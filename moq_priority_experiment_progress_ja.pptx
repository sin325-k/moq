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AAF7D11-C7A7-43B7-AFC5-850BFEEF19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298F093-40F6-481A-B8F5-4E99ED5B9F4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C1E34960-CFD7-4A21-AA2F-DED700968C4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102a4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270000" cy="6858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9828000" y="648000"/>
            <a:ext cx="1548000" cy="1548000"/>
          </a:xfrm>
          <a:prstGeom prst="ellipse">
            <a:avLst/>
          </a:prstGeom>
          <a:solidFill>
            <a:srgbClr val="173b5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10440000" y="1296000"/>
            <a:ext cx="936000" cy="936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/>
          <p:nvPr/>
        </p:nvSpPr>
        <p:spPr>
          <a:xfrm>
            <a:off x="9144000" y="1728000"/>
            <a:ext cx="612000" cy="612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"/>
          <p:cNvSpPr/>
          <p:nvPr/>
        </p:nvSpPr>
        <p:spPr>
          <a:xfrm>
            <a:off x="576000" y="612000"/>
            <a:ext cx="1296000" cy="23400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594000" y="639000"/>
            <a:ext cx="1260000" cy="22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200" spc="-1" strike="noStrike">
                <a:solidFill>
                  <a:srgbClr val="ffffff"/>
                </a:solidFill>
                <a:latin typeface="Noto Sans CJK JP"/>
              </a:rPr>
              <a:t>実験進捗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576000" y="1188000"/>
            <a:ext cx="8820000" cy="13950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3600" spc="-1" strike="noStrike">
                <a:solidFill>
                  <a:srgbClr val="ffffff"/>
                </a:solidFill>
                <a:latin typeface="Noto Sans CJK JP"/>
              </a:rPr>
              <a:t>MoQ Subscriber Priority</a:t>
            </a:r>
            <a:endParaRPr b="1" lang="en-US" sz="3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r>
              <a:rPr b="1" lang="zh-CN" sz="3600" spc="-1" strike="noStrike">
                <a:solidFill>
                  <a:srgbClr val="ffffff"/>
                </a:solidFill>
                <a:latin typeface="Noto Sans CJK JP"/>
              </a:rPr>
              <a:t>制御実験</a:t>
            </a:r>
            <a:endParaRPr b="1" lang="en-US" sz="3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612000" y="2646000"/>
            <a:ext cx="8640000" cy="4410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2000" spc="-1" strike="noStrike">
                <a:solidFill>
                  <a:srgbClr val="cfe2f3"/>
                </a:solidFill>
                <a:latin typeface="Noto Sans CJK JP"/>
              </a:rPr>
              <a:t>どの条件で優先度が配信遅延を変えるのか</a:t>
            </a:r>
            <a:endParaRPr b="0" lang="en-US" sz="2000" spc="-1" strike="noStrike">
              <a:solidFill>
                <a:srgbClr val="cfe2f3"/>
              </a:solidFill>
              <a:latin typeface="Noto Sans CJK JP"/>
              <a:ea typeface="Noto Sans CJK JP"/>
            </a:endParaRPr>
          </a:p>
        </p:txBody>
      </p:sp>
      <p:sp>
        <p:nvSpPr>
          <p:cNvPr id="16" name=""/>
          <p:cNvSpPr/>
          <p:nvPr/>
        </p:nvSpPr>
        <p:spPr>
          <a:xfrm>
            <a:off x="612000" y="3240000"/>
            <a:ext cx="4140000" cy="0"/>
          </a:xfrm>
          <a:prstGeom prst="line">
            <a:avLst/>
          </a:prstGeom>
          <a:ln w="21600">
            <a:solidFill>
              <a:srgbClr val="15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0800" rIns="100800" tIns="-55800" bIns="-558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612000" y="3420000"/>
            <a:ext cx="6120000" cy="3481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500" spc="-1" strike="noStrike">
                <a:solidFill>
                  <a:srgbClr val="ffffff"/>
                </a:solidFill>
                <a:latin typeface="Noto Sans CJK JP"/>
              </a:rPr>
              <a:t>目的 → 仮説 → 実験 → 結果 → 改善</a:t>
            </a:r>
            <a:endParaRPr b="1" lang="en-US" sz="15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612000" y="5418000"/>
            <a:ext cx="6120000" cy="3099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300" spc="-1" strike="noStrike">
                <a:solidFill>
                  <a:srgbClr val="cfe2f3"/>
                </a:solidFill>
                <a:latin typeface="Noto Sans CJK JP"/>
              </a:rPr>
              <a:t>発表者：＿＿＿＿＿＿＿＿    所属：＿＿＿＿＿＿＿＿</a:t>
            </a:r>
            <a:endParaRPr b="0" lang="en-US" sz="1300" spc="-1" strike="noStrike">
              <a:solidFill>
                <a:srgbClr val="cfe2f3"/>
              </a:solidFill>
              <a:latin typeface="Noto Sans CJK JP"/>
              <a:ea typeface="Noto Sans CJK JP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12000" y="5778000"/>
            <a:ext cx="3240000" cy="275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100" spc="-1" strike="noStrike">
                <a:solidFill>
                  <a:srgbClr val="8fb3d1"/>
                </a:solidFill>
                <a:latin typeface="Noto Sans CJK JP"/>
              </a:rPr>
              <a:t>2026</a:t>
            </a:r>
            <a:r>
              <a:rPr b="0" lang="zh-CN" sz="1100" spc="-1" strike="noStrike">
                <a:solidFill>
                  <a:srgbClr val="8fb3d1"/>
                </a:solidFill>
                <a:latin typeface="Noto Sans CJK JP"/>
              </a:rPr>
              <a:t>年</a:t>
            </a:r>
            <a:r>
              <a:rPr b="0" lang="en-US" sz="1100" spc="-1" strike="noStrike">
                <a:solidFill>
                  <a:srgbClr val="8fb3d1"/>
                </a:solidFill>
                <a:latin typeface="Noto Sans CJK JP"/>
              </a:rPr>
              <a:t>9</a:t>
            </a:r>
            <a:r>
              <a:rPr b="0" lang="zh-CN" sz="1100" spc="-1" strike="noStrike">
                <a:solidFill>
                  <a:srgbClr val="8fb3d1"/>
                </a:solidFill>
                <a:latin typeface="Noto Sans CJK JP"/>
              </a:rPr>
              <a:t>月</a:t>
            </a:r>
            <a:r>
              <a:rPr b="0" lang="en-US" sz="1100" spc="-1" strike="noStrike">
                <a:solidFill>
                  <a:srgbClr val="8fb3d1"/>
                </a:solidFill>
                <a:latin typeface="Noto Sans CJK JP"/>
              </a:rPr>
              <a:t>30</a:t>
            </a:r>
            <a:r>
              <a:rPr b="0" lang="zh-CN" sz="1100" spc="-1" strike="noStrike">
                <a:solidFill>
                  <a:srgbClr val="8fb3d1"/>
                </a:solidFill>
                <a:latin typeface="Noto Sans CJK JP"/>
              </a:rPr>
              <a:t>日</a:t>
            </a:r>
            <a:endParaRPr b="0" lang="en-US" sz="1100" spc="-1" strike="noStrike">
              <a:solidFill>
                <a:srgbClr val="8fb3d1"/>
              </a:solidFill>
              <a:latin typeface="Noto Sans CJK JP"/>
              <a:ea typeface="Noto Sans CJK JP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11268000" y="6498000"/>
            <a:ext cx="324000" cy="238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8fb3d1"/>
                </a:solidFill>
                <a:latin typeface="Noto Sans CJK JP"/>
              </a:rPr>
              <a:t>1</a:t>
            </a:r>
            <a:endParaRPr b="0" lang="en-US" sz="900" spc="-1" strike="noStrike">
              <a:solidFill>
                <a:srgbClr val="8fb3d1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結論を先に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今回の実験で最も重要だったのは、損失率ではなく待ち行列の場所だった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5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2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8" name=""/>
          <p:cNvSpPr/>
          <p:nvPr/>
        </p:nvSpPr>
        <p:spPr>
          <a:xfrm>
            <a:off x="540000" y="1116000"/>
            <a:ext cx="3456000" cy="14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540000" y="1116000"/>
            <a:ext cx="39600" cy="1476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"/>
          <p:cNvSpPr txBox="1"/>
          <p:nvPr/>
        </p:nvSpPr>
        <p:spPr>
          <a:xfrm>
            <a:off x="702000" y="1224000"/>
            <a:ext cx="318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結論 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1</a:t>
            </a:r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｜優先度は機能する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702000" y="1494000"/>
            <a:ext cx="3186000" cy="11754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Subscriber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で指定した優先度は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MoQ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から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Quinn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へ正しく伝わり、選択トラックを先にスケジュールした。</a:t>
            </a:r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2" name=""/>
          <p:cNvSpPr/>
          <p:nvPr/>
        </p:nvSpPr>
        <p:spPr>
          <a:xfrm>
            <a:off x="4356000" y="1116000"/>
            <a:ext cx="3456000" cy="14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4356000" y="1116000"/>
            <a:ext cx="39600" cy="1476000"/>
          </a:xfrm>
          <a:prstGeom prst="rect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4518000" y="1224000"/>
            <a:ext cx="318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結論 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2</a:t>
            </a:r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｜損失は必須ではない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4518000" y="1494000"/>
            <a:ext cx="3186000" cy="8996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損失ゼロでも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Quinn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内部に競合を作ると、選択トラックの中央値が約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24%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改善した。</a:t>
            </a:r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6" name=""/>
          <p:cNvSpPr/>
          <p:nvPr/>
        </p:nvSpPr>
        <p:spPr>
          <a:xfrm>
            <a:off x="8172000" y="1116000"/>
            <a:ext cx="3456000" cy="147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"/>
          <p:cNvSpPr/>
          <p:nvPr/>
        </p:nvSpPr>
        <p:spPr>
          <a:xfrm>
            <a:off x="8172000" y="1116000"/>
            <a:ext cx="39600" cy="1476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8334000" y="1224000"/>
            <a:ext cx="318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結論 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3</a:t>
            </a:r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｜全体高速化ではない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8334000" y="1494000"/>
            <a:ext cx="3186000" cy="8996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効果は容量の再配分。選択側が速くなる代わりに、非選択側は遅くなる。</a:t>
            </a:r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0" name=""/>
          <p:cNvSpPr/>
          <p:nvPr/>
        </p:nvSpPr>
        <p:spPr>
          <a:xfrm>
            <a:off x="540000" y="2988000"/>
            <a:ext cx="11088000" cy="241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738000" y="3132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最終的に確認できた因果関係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2" name=""/>
          <p:cNvSpPr/>
          <p:nvPr/>
        </p:nvSpPr>
        <p:spPr>
          <a:xfrm>
            <a:off x="864000" y="3708000"/>
            <a:ext cx="576000" cy="576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864000" y="3816000"/>
            <a:ext cx="576000" cy="476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2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2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576000" y="4392000"/>
            <a:ext cx="1152000" cy="11091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複数</a:t>
            </a:r>
            <a:r>
              <a:rPr b="1" lang="en-US" sz="1400" spc="-1" strike="noStrike">
                <a:solidFill>
                  <a:srgbClr val="17324d"/>
                </a:solidFill>
                <a:latin typeface="Noto Sans CJK JP"/>
              </a:rPr>
              <a:t>stream</a:t>
            </a:r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が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同時に送信候補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5" name=""/>
          <p:cNvSpPr/>
          <p:nvPr/>
        </p:nvSpPr>
        <p:spPr>
          <a:xfrm>
            <a:off x="1584000" y="3996000"/>
            <a:ext cx="1638000" cy="0"/>
          </a:xfrm>
          <a:prstGeom prst="line">
            <a:avLst/>
          </a:prstGeom>
          <a:ln w="16200">
            <a:solidFill>
              <a:srgbClr val="5d72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"/>
          <p:cNvSpPr/>
          <p:nvPr/>
        </p:nvSpPr>
        <p:spPr>
          <a:xfrm>
            <a:off x="3528000" y="3708000"/>
            <a:ext cx="576000" cy="576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528000" y="3816000"/>
            <a:ext cx="576000" cy="476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2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2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3240000" y="4392000"/>
            <a:ext cx="1152000" cy="8499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400" spc="-1" strike="noStrike">
                <a:solidFill>
                  <a:srgbClr val="17324d"/>
                </a:solidFill>
                <a:latin typeface="Noto Sans CJK JP"/>
              </a:rPr>
              <a:t>Quinn</a:t>
            </a:r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内部に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送信待ち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9" name=""/>
          <p:cNvSpPr/>
          <p:nvPr/>
        </p:nvSpPr>
        <p:spPr>
          <a:xfrm>
            <a:off x="4248000" y="3996000"/>
            <a:ext cx="1638000" cy="0"/>
          </a:xfrm>
          <a:prstGeom prst="line">
            <a:avLst/>
          </a:prstGeom>
          <a:ln w="16200">
            <a:solidFill>
              <a:srgbClr val="5d72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6192000" y="3708000"/>
            <a:ext cx="576000" cy="576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6192000" y="3816000"/>
            <a:ext cx="576000" cy="476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2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2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5904000" y="4392000"/>
            <a:ext cx="1152000" cy="11091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400" spc="-1" strike="noStrike">
                <a:solidFill>
                  <a:srgbClr val="17324d"/>
                </a:solidFill>
                <a:latin typeface="Noto Sans CJK JP"/>
              </a:rPr>
              <a:t>priority scheduler</a:t>
            </a:r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が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順序を選択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53" name=""/>
          <p:cNvSpPr/>
          <p:nvPr/>
        </p:nvSpPr>
        <p:spPr>
          <a:xfrm>
            <a:off x="6912000" y="3996000"/>
            <a:ext cx="1638000" cy="0"/>
          </a:xfrm>
          <a:prstGeom prst="line">
            <a:avLst/>
          </a:prstGeom>
          <a:ln w="16200">
            <a:solidFill>
              <a:srgbClr val="5d72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"/>
          <p:cNvSpPr/>
          <p:nvPr/>
        </p:nvSpPr>
        <p:spPr>
          <a:xfrm>
            <a:off x="8856000" y="3708000"/>
            <a:ext cx="576000" cy="576000"/>
          </a:xfrm>
          <a:prstGeom prst="ellipse">
            <a:avLst/>
          </a:prstGeom>
          <a:solidFill>
            <a:srgbClr val="e54b4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856000" y="3816000"/>
            <a:ext cx="576000" cy="4762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200" spc="-1" strike="noStrike">
                <a:solidFill>
                  <a:srgbClr val="ffffff"/>
                </a:solidFill>
                <a:latin typeface="Noto Sans CJK JP"/>
              </a:rPr>
              <a:t>4</a:t>
            </a:r>
            <a:endParaRPr b="1" lang="en-US" sz="2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8568000" y="4392000"/>
            <a:ext cx="1152000" cy="11091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選択側の遅延低下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非選択側の遅延増加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実験の目的と検証した問い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単に『優先度が効いた』で終わらず、機構と適用条件を切り分ける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61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3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64" name=""/>
          <p:cNvSpPr/>
          <p:nvPr/>
        </p:nvSpPr>
        <p:spPr>
          <a:xfrm>
            <a:off x="540000" y="1152000"/>
            <a:ext cx="5256000" cy="18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774000" y="1386000"/>
            <a:ext cx="432000" cy="432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774000" y="14796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Q1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1350000" y="1386000"/>
            <a:ext cx="4032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900" spc="-1" strike="noStrike">
                <a:solidFill>
                  <a:srgbClr val="102a43"/>
                </a:solidFill>
                <a:latin typeface="Noto Sans CJK JP"/>
              </a:rPr>
              <a:t>優先度は本当に効くか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350000" y="1764000"/>
            <a:ext cx="4032000" cy="6058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Subscriber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の設定が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transport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まで正しく届くか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1350000" y="2430000"/>
            <a:ext cx="14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150" spc="-1" strike="noStrike">
                <a:solidFill>
                  <a:srgbClr val="1677ff"/>
                </a:solidFill>
                <a:latin typeface="Noto Sans CJK JP"/>
              </a:rPr>
              <a:t>機能確認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70" name=""/>
          <p:cNvSpPr/>
          <p:nvPr/>
        </p:nvSpPr>
        <p:spPr>
          <a:xfrm>
            <a:off x="6174000" y="1152000"/>
            <a:ext cx="5256000" cy="18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"/>
          <p:cNvSpPr/>
          <p:nvPr/>
        </p:nvSpPr>
        <p:spPr>
          <a:xfrm>
            <a:off x="6408000" y="1386000"/>
            <a:ext cx="432000" cy="432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408000" y="14796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Q2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6984000" y="1386000"/>
            <a:ext cx="4032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900" spc="-1" strike="noStrike">
                <a:solidFill>
                  <a:srgbClr val="102a43"/>
                </a:solidFill>
                <a:latin typeface="Noto Sans CJK JP"/>
              </a:rPr>
              <a:t>何が結果を左右するか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6984000" y="1764000"/>
            <a:ext cx="4032000" cy="6058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購読順序、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group size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、損失、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RTT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、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cwnd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、送信位相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6984000" y="2430000"/>
            <a:ext cx="14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150" spc="-1" strike="noStrike">
                <a:solidFill>
                  <a:srgbClr val="1677ff"/>
                </a:solidFill>
                <a:latin typeface="Noto Sans CJK JP"/>
              </a:rPr>
              <a:t>交絡の除去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76" name=""/>
          <p:cNvSpPr/>
          <p:nvPr/>
        </p:nvSpPr>
        <p:spPr>
          <a:xfrm>
            <a:off x="540000" y="3312000"/>
            <a:ext cx="5256000" cy="18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"/>
          <p:cNvSpPr/>
          <p:nvPr/>
        </p:nvSpPr>
        <p:spPr>
          <a:xfrm>
            <a:off x="774000" y="3546000"/>
            <a:ext cx="432000" cy="432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74000" y="36396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Q3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350000" y="3546000"/>
            <a:ext cx="4032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900" spc="-1" strike="noStrike">
                <a:solidFill>
                  <a:srgbClr val="102a43"/>
                </a:solidFill>
                <a:latin typeface="Noto Sans CJK JP"/>
              </a:rPr>
              <a:t>どの層で待っているか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350000" y="3924000"/>
            <a:ext cx="4032000" cy="6058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Publisher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、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Quinn scheduler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、送出後の外部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FIFO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1350000" y="4590000"/>
            <a:ext cx="14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150" spc="-1" strike="noStrike">
                <a:solidFill>
                  <a:srgbClr val="1677ff"/>
                </a:solidFill>
                <a:latin typeface="Noto Sans CJK JP"/>
              </a:rPr>
              <a:t>機構の特定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82" name=""/>
          <p:cNvSpPr/>
          <p:nvPr/>
        </p:nvSpPr>
        <p:spPr>
          <a:xfrm>
            <a:off x="6174000" y="3312000"/>
            <a:ext cx="5256000" cy="18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6408000" y="3546000"/>
            <a:ext cx="432000" cy="432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408000" y="36396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Q4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6984000" y="3546000"/>
            <a:ext cx="4032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900" spc="-1" strike="noStrike">
                <a:solidFill>
                  <a:srgbClr val="102a43"/>
                </a:solidFill>
                <a:latin typeface="Noto Sans CJK JP"/>
              </a:rPr>
              <a:t>結果は測定誤差ではないか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6984000" y="3924000"/>
            <a:ext cx="4032000" cy="6058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受信処理、時計、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GSO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、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stream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上限、有限実験時間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6984000" y="4590000"/>
            <a:ext cx="14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150" spc="-1" strike="noStrike">
                <a:solidFill>
                  <a:srgbClr val="1677ff"/>
                </a:solidFill>
                <a:latin typeface="Noto Sans CJK JP"/>
              </a:rPr>
              <a:t>再現性の担保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最初に構築した実験系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同一ホストの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monotonic clock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で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Publisher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から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Subscriber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までの片方向遅延を測定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92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4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95" name=""/>
          <p:cNvSpPr/>
          <p:nvPr/>
        </p:nvSpPr>
        <p:spPr>
          <a:xfrm>
            <a:off x="684000" y="1800000"/>
            <a:ext cx="1692000" cy="126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677ff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1314000" y="1476000"/>
            <a:ext cx="432000" cy="432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314000" y="15660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792000" y="1980000"/>
            <a:ext cx="1476000" cy="77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Python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Publisher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792000" y="2592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150" spc="-1" strike="noStrike">
                <a:solidFill>
                  <a:srgbClr val="5d7285"/>
                </a:solidFill>
                <a:latin typeface="Noto Sans CJK JP"/>
              </a:rPr>
              <a:t>audio + background</a:t>
            </a:r>
            <a:endParaRPr b="0" lang="en-US" sz="11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00" name=""/>
          <p:cNvSpPr/>
          <p:nvPr/>
        </p:nvSpPr>
        <p:spPr>
          <a:xfrm>
            <a:off x="2412000" y="2412000"/>
            <a:ext cx="1278000" cy="0"/>
          </a:xfrm>
          <a:prstGeom prst="line">
            <a:avLst/>
          </a:prstGeom>
          <a:ln w="19800">
            <a:solidFill>
              <a:srgbClr val="1677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780000" y="1800000"/>
            <a:ext cx="1692000" cy="126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02a43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4410000" y="1476000"/>
            <a:ext cx="432000" cy="432000"/>
          </a:xfrm>
          <a:prstGeom prst="ellipse">
            <a:avLst/>
          </a:prstGeom>
          <a:solidFill>
            <a:srgbClr val="102a4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4410000" y="15660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3888000" y="1980000"/>
            <a:ext cx="1476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moq-relay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3888000" y="2592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150" spc="-1" strike="noStrike">
                <a:solidFill>
                  <a:srgbClr val="5d7285"/>
                </a:solidFill>
                <a:latin typeface="Noto Sans CJK JP"/>
              </a:rPr>
              <a:t>MoQ / QUIC</a:t>
            </a:r>
            <a:endParaRPr b="0" lang="en-US" sz="11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06" name=""/>
          <p:cNvSpPr/>
          <p:nvPr/>
        </p:nvSpPr>
        <p:spPr>
          <a:xfrm>
            <a:off x="5508000" y="2412000"/>
            <a:ext cx="1242000" cy="0"/>
          </a:xfrm>
          <a:prstGeom prst="line">
            <a:avLst/>
          </a:prstGeom>
          <a:ln w="19800">
            <a:solidFill>
              <a:srgbClr val="1677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6840000" y="1800000"/>
            <a:ext cx="1692000" cy="126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f59e0b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7470000" y="1476000"/>
            <a:ext cx="432000" cy="432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7470000" y="15660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6948000" y="1980000"/>
            <a:ext cx="1476000" cy="77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UDP Shaper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6948000" y="2592000"/>
            <a:ext cx="1476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150" spc="-1" strike="noStrike">
                <a:solidFill>
                  <a:srgbClr val="5d7285"/>
                </a:solidFill>
                <a:latin typeface="Noto Sans CJK JP"/>
              </a:rPr>
              <a:t>rate</a:t>
            </a:r>
            <a:r>
              <a:rPr b="0" lang="zh-CN" sz="1150" spc="-1" strike="noStrike">
                <a:solidFill>
                  <a:srgbClr val="5d7285"/>
                </a:solidFill>
                <a:latin typeface="Noto Sans CJK JP"/>
              </a:rPr>
              <a:t>・</a:t>
            </a:r>
            <a:r>
              <a:rPr b="0" lang="en-US" sz="1150" spc="-1" strike="noStrike">
                <a:solidFill>
                  <a:srgbClr val="5d7285"/>
                </a:solidFill>
                <a:latin typeface="Noto Sans CJK JP"/>
              </a:rPr>
              <a:t>delay</a:t>
            </a:r>
            <a:r>
              <a:rPr b="0" lang="zh-CN" sz="1150" spc="-1" strike="noStrike">
                <a:solidFill>
                  <a:srgbClr val="5d7285"/>
                </a:solidFill>
                <a:latin typeface="Noto Sans CJK JP"/>
              </a:rPr>
              <a:t>・</a:t>
            </a:r>
            <a:r>
              <a:rPr b="0" lang="en-US" sz="1150" spc="-1" strike="noStrike">
                <a:solidFill>
                  <a:srgbClr val="5d7285"/>
                </a:solidFill>
                <a:latin typeface="Noto Sans CJK JP"/>
              </a:rPr>
              <a:t>queue</a:t>
            </a:r>
            <a:endParaRPr b="0" lang="en-US" sz="11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12" name=""/>
          <p:cNvSpPr/>
          <p:nvPr/>
        </p:nvSpPr>
        <p:spPr>
          <a:xfrm>
            <a:off x="8568000" y="2412000"/>
            <a:ext cx="1242000" cy="0"/>
          </a:xfrm>
          <a:prstGeom prst="line">
            <a:avLst/>
          </a:prstGeom>
          <a:ln w="19800">
            <a:solidFill>
              <a:srgbClr val="1677ff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720" rIns="99720" tIns="-54720" bIns="-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"/>
          <p:cNvSpPr/>
          <p:nvPr/>
        </p:nvSpPr>
        <p:spPr>
          <a:xfrm>
            <a:off x="9900000" y="1800000"/>
            <a:ext cx="1692000" cy="1260000"/>
          </a:xfrm>
          <a:prstGeom prst="roundRect">
            <a:avLst/>
          </a:prstGeom>
          <a:solidFill>
            <a:srgbClr val="ffffff"/>
          </a:solidFill>
          <a:ln w="16200">
            <a:solidFill>
              <a:srgbClr val="15b8a6"/>
            </a:solidFill>
            <a:round/>
          </a:ln>
        </p:spPr>
        <p:txBody>
          <a:bodyPr lIns="97920" rIns="97920" tIns="52920" bIns="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"/>
          <p:cNvSpPr/>
          <p:nvPr/>
        </p:nvSpPr>
        <p:spPr>
          <a:xfrm>
            <a:off x="10530000" y="1476000"/>
            <a:ext cx="432000" cy="432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0530000" y="15660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ffffff"/>
                </a:solidFill>
                <a:latin typeface="Noto Sans CJK JP"/>
              </a:rPr>
              <a:t>4</a:t>
            </a:r>
            <a:endParaRPr b="1" lang="en-US" sz="16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008000" y="1980000"/>
            <a:ext cx="1476000" cy="77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Python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Subscriber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10008000" y="2592000"/>
            <a:ext cx="1476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150" spc="-1" strike="noStrike">
                <a:solidFill>
                  <a:srgbClr val="5d7285"/>
                </a:solidFill>
                <a:latin typeface="Noto Sans CJK JP"/>
              </a:rPr>
              <a:t>CSV + completion ACK</a:t>
            </a:r>
            <a:endParaRPr b="0" lang="en-US" sz="11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18" name=""/>
          <p:cNvSpPr/>
          <p:nvPr/>
        </p:nvSpPr>
        <p:spPr>
          <a:xfrm>
            <a:off x="684000" y="3672000"/>
            <a:ext cx="3312000" cy="14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684000" y="3672000"/>
            <a:ext cx="39600" cy="144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846000" y="3780000"/>
            <a:ext cx="304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audio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846000" y="4050000"/>
            <a:ext cx="3042000" cy="8499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1,944 bytes / 20 ms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48 kHz mono PCM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約</a:t>
            </a:r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0.778 Mbps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22" name=""/>
          <p:cNvSpPr/>
          <p:nvPr/>
        </p:nvSpPr>
        <p:spPr>
          <a:xfrm>
            <a:off x="4428000" y="3672000"/>
            <a:ext cx="3312000" cy="14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"/>
          <p:cNvSpPr/>
          <p:nvPr/>
        </p:nvSpPr>
        <p:spPr>
          <a:xfrm>
            <a:off x="4428000" y="3672000"/>
            <a:ext cx="39600" cy="1440000"/>
          </a:xfrm>
          <a:prstGeom prst="rect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4590000" y="3780000"/>
            <a:ext cx="304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background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4590000" y="4050000"/>
            <a:ext cx="3042000" cy="59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初期</a:t>
            </a:r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: 32,768 bytes / 4 Mbps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対称化後</a:t>
            </a:r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: 1,944 bytes / 20 ms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26" name=""/>
          <p:cNvSpPr/>
          <p:nvPr/>
        </p:nvSpPr>
        <p:spPr>
          <a:xfrm>
            <a:off x="8172000" y="3672000"/>
            <a:ext cx="3312000" cy="14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"/>
          <p:cNvSpPr/>
          <p:nvPr/>
        </p:nvSpPr>
        <p:spPr>
          <a:xfrm>
            <a:off x="8172000" y="3672000"/>
            <a:ext cx="39600" cy="1440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8334000" y="3780000"/>
            <a:ext cx="304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3</a:t>
            </a:r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つの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priority mode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334000" y="4050000"/>
            <a:ext cx="3042000" cy="8499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off: 0 / 0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audio: 255 / 0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background: 0 / 255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684000" y="5436000"/>
            <a:ext cx="90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300" spc="-1" strike="noStrike">
                <a:solidFill>
                  <a:srgbClr val="102a43"/>
                </a:solidFill>
                <a:latin typeface="Noto Sans CJK JP"/>
              </a:rPr>
              <a:t>各</a:t>
            </a:r>
            <a:r>
              <a:rPr b="1" lang="en-US" sz="1300" spc="-1" strike="noStrike">
                <a:solidFill>
                  <a:srgbClr val="102a43"/>
                </a:solidFill>
                <a:latin typeface="Noto Sans CJK JP"/>
              </a:rPr>
              <a:t>payload</a:t>
            </a:r>
            <a:r>
              <a:rPr b="1" lang="zh-CN" sz="1300" spc="-1" strike="noStrike">
                <a:solidFill>
                  <a:srgbClr val="102a43"/>
                </a:solidFill>
                <a:latin typeface="Noto Sans CJK JP"/>
              </a:rPr>
              <a:t>に </a:t>
            </a:r>
            <a:r>
              <a:rPr b="1" lang="en-US" sz="1300" spc="-1" strike="noStrike">
                <a:solidFill>
                  <a:srgbClr val="102a43"/>
                </a:solidFill>
                <a:latin typeface="Noto Sans CJK JP"/>
              </a:rPr>
              <a:t>MLAB / track / sequence / send_time </a:t>
            </a:r>
            <a:r>
              <a:rPr b="1" lang="zh-CN" sz="1300" spc="-1" strike="noStrike">
                <a:solidFill>
                  <a:srgbClr val="102a43"/>
                </a:solidFill>
                <a:latin typeface="Noto Sans CJK JP"/>
              </a:rPr>
              <a:t>を格納</a:t>
            </a:r>
            <a:endParaRPr b="1" lang="en-US" sz="13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比較を成立させるための実験手順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条件間の差を優先度だけに近づけ、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run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を独立な標本として扱った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35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5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38" name=""/>
          <p:cNvSpPr/>
          <p:nvPr/>
        </p:nvSpPr>
        <p:spPr>
          <a:xfrm>
            <a:off x="612000" y="1098000"/>
            <a:ext cx="414000" cy="414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12000" y="1186200"/>
            <a:ext cx="41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01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1224000" y="1080000"/>
            <a:ext cx="41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両購読の準備完了後に送信開始</a:t>
            </a:r>
            <a:endParaRPr b="1" lang="en-US" sz="17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1224000" y="1350000"/>
            <a:ext cx="90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先に購読した</a:t>
            </a:r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track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だけが早く送信を始めることを防止</a:t>
            </a:r>
            <a:endParaRPr b="0" lang="en-US" sz="13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42" name=""/>
          <p:cNvSpPr/>
          <p:nvPr/>
        </p:nvSpPr>
        <p:spPr>
          <a:xfrm>
            <a:off x="819000" y="1530000"/>
            <a:ext cx="0" cy="432000"/>
          </a:xfrm>
          <a:prstGeom prst="line">
            <a:avLst/>
          </a:prstGeom>
          <a:ln w="126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612000" y="2016000"/>
            <a:ext cx="414000" cy="414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612000" y="2104200"/>
            <a:ext cx="41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02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224000" y="1998000"/>
            <a:ext cx="41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run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ごとに固有</a:t>
            </a:r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broadcast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名</a:t>
            </a:r>
            <a:endParaRPr b="1" lang="en-US" sz="17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1224000" y="2268000"/>
            <a:ext cx="90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relay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の</a:t>
            </a:r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linger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や前</a:t>
            </a:r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run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の状態混入を防止</a:t>
            </a:r>
            <a:endParaRPr b="0" lang="en-US" sz="13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47" name=""/>
          <p:cNvSpPr/>
          <p:nvPr/>
        </p:nvSpPr>
        <p:spPr>
          <a:xfrm>
            <a:off x="819000" y="2448000"/>
            <a:ext cx="0" cy="432000"/>
          </a:xfrm>
          <a:prstGeom prst="line">
            <a:avLst/>
          </a:prstGeom>
          <a:ln w="126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"/>
          <p:cNvSpPr/>
          <p:nvPr/>
        </p:nvSpPr>
        <p:spPr>
          <a:xfrm>
            <a:off x="612000" y="2934000"/>
            <a:ext cx="414000" cy="414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12000" y="3022200"/>
            <a:ext cx="41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03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1224000" y="2916000"/>
            <a:ext cx="41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固定</a:t>
            </a:r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seed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で条件順をランダム化</a:t>
            </a:r>
            <a:endParaRPr b="1" lang="en-US" sz="17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1224000" y="3186000"/>
            <a:ext cx="90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時間変動が特定</a:t>
            </a:r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mode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へ偏ることを防止</a:t>
            </a:r>
            <a:endParaRPr b="0" lang="en-US" sz="13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52" name=""/>
          <p:cNvSpPr/>
          <p:nvPr/>
        </p:nvSpPr>
        <p:spPr>
          <a:xfrm>
            <a:off x="819000" y="3366000"/>
            <a:ext cx="0" cy="432000"/>
          </a:xfrm>
          <a:prstGeom prst="line">
            <a:avLst/>
          </a:prstGeom>
          <a:ln w="126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612000" y="3852000"/>
            <a:ext cx="414000" cy="414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612000" y="3940200"/>
            <a:ext cx="41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04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1224000" y="3834000"/>
            <a:ext cx="41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完了</a:t>
            </a:r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ACK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後に</a:t>
            </a:r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Publisher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を終了</a:t>
            </a:r>
            <a:endParaRPr b="1" lang="en-US" sz="17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1224000" y="4104000"/>
            <a:ext cx="90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最後の</a:t>
            </a:r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frame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が接続終了で欠けることを防止</a:t>
            </a:r>
            <a:endParaRPr b="0" lang="en-US" sz="13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57" name=""/>
          <p:cNvSpPr/>
          <p:nvPr/>
        </p:nvSpPr>
        <p:spPr>
          <a:xfrm>
            <a:off x="819000" y="4284000"/>
            <a:ext cx="0" cy="432000"/>
          </a:xfrm>
          <a:prstGeom prst="line">
            <a:avLst/>
          </a:prstGeom>
          <a:ln w="126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"/>
          <p:cNvSpPr/>
          <p:nvPr/>
        </p:nvSpPr>
        <p:spPr>
          <a:xfrm>
            <a:off x="612000" y="4770000"/>
            <a:ext cx="414000" cy="414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612000" y="4858200"/>
            <a:ext cx="41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400" spc="-1" strike="noStrike">
                <a:solidFill>
                  <a:srgbClr val="ffffff"/>
                </a:solidFill>
                <a:latin typeface="Noto Sans CJK JP"/>
              </a:rPr>
              <a:t>05</a:t>
            </a:r>
            <a:endParaRPr b="1" lang="en-US" sz="14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1224000" y="4752000"/>
            <a:ext cx="41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run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単位の</a:t>
            </a:r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bootstrap CI</a:t>
            </a:r>
            <a:endParaRPr b="1" lang="en-US" sz="17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224000" y="5022000"/>
            <a:ext cx="90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同一</a:t>
            </a:r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run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内の相関</a:t>
            </a:r>
            <a:r>
              <a:rPr b="0" lang="en-US" sz="1350" spc="-1" strike="noStrike">
                <a:solidFill>
                  <a:srgbClr val="17324d"/>
                </a:solidFill>
                <a:latin typeface="Noto Sans CJK JP"/>
              </a:rPr>
              <a:t>frame</a:t>
            </a:r>
            <a:r>
              <a:rPr b="0" lang="zh-CN" sz="1350" spc="-1" strike="noStrike">
                <a:solidFill>
                  <a:srgbClr val="17324d"/>
                </a:solidFill>
                <a:latin typeface="Noto Sans CJK JP"/>
              </a:rPr>
              <a:t>を独立標本として数えない</a:t>
            </a:r>
            <a:endParaRPr b="0" lang="en-US" sz="13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初期結果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: group size</a:t>
            </a:r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が大きな交絡要因だった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65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同じ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priority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比較でも、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group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の完了しやすさが観測遅延を変える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66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6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576000" y="1116000"/>
            <a:ext cx="27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元のサイズ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576000" y="1386000"/>
            <a:ext cx="396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200" spc="-1" strike="noStrike">
                <a:solidFill>
                  <a:srgbClr val="5d7285"/>
                </a:solidFill>
                <a:latin typeface="Noto Sans CJK JP"/>
              </a:rPr>
              <a:t>audio 1,944 B / background 32,768 B</a:t>
            </a:r>
            <a:endParaRPr b="0" lang="en-US" sz="12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71" name=""/>
          <p:cNvSpPr/>
          <p:nvPr/>
        </p:nvSpPr>
        <p:spPr>
          <a:xfrm>
            <a:off x="540000" y="1692000"/>
            <a:ext cx="5148000" cy="234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"/>
          <p:cNvSpPr/>
          <p:nvPr/>
        </p:nvSpPr>
        <p:spPr>
          <a:xfrm>
            <a:off x="540000" y="1692000"/>
            <a:ext cx="39600" cy="2340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 txBox="1"/>
          <p:nvPr/>
        </p:nvSpPr>
        <p:spPr>
          <a:xfrm>
            <a:off x="702000" y="1800000"/>
            <a:ext cx="487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観測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74" name=""/>
          <p:cNvSpPr txBox="1"/>
          <p:nvPr/>
        </p:nvSpPr>
        <p:spPr>
          <a:xfrm>
            <a:off x="702000" y="2070000"/>
            <a:ext cx="4878000" cy="14511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小さい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audio group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は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equal priority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でも早く完了</a:t>
            </a:r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background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優先では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audio p50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が約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4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秒まで悪化</a:t>
            </a:r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500" spc="-1" strike="noStrike">
                <a:solidFill>
                  <a:srgbClr val="17324d"/>
                </a:solidFill>
                <a:latin typeface="Noto Sans CJK JP"/>
              </a:rPr>
              <a:t>audio</a:t>
            </a:r>
            <a:r>
              <a:rPr b="0" lang="zh-CN" sz="1500" spc="-1" strike="noStrike">
                <a:solidFill>
                  <a:srgbClr val="17324d"/>
                </a:solidFill>
                <a:latin typeface="Noto Sans CJK JP"/>
              </a:rPr>
              <a:t>優先の追加効果は小さく見えた</a:t>
            </a:r>
            <a:endParaRPr b="0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75" name=""/>
          <p:cNvSpPr txBox="1"/>
          <p:nvPr/>
        </p:nvSpPr>
        <p:spPr>
          <a:xfrm>
            <a:off x="6264000" y="1116000"/>
            <a:ext cx="46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サイズを揃えた後の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audio p50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176" name=""/>
          <p:cNvSpPr txBox="1"/>
          <p:nvPr/>
        </p:nvSpPr>
        <p:spPr>
          <a:xfrm>
            <a:off x="5940000" y="1566000"/>
            <a:ext cx="864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audio-first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OFF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77" name=""/>
          <p:cNvSpPr/>
          <p:nvPr/>
        </p:nvSpPr>
        <p:spPr>
          <a:xfrm>
            <a:off x="6876000" y="1684440"/>
            <a:ext cx="4320000" cy="31032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6876000" y="1684440"/>
            <a:ext cx="3956040" cy="310320"/>
          </a:xfrm>
          <a:prstGeom prst="roundRect">
            <a:avLst/>
          </a:prstGeom>
          <a:solidFill>
            <a:srgbClr val="5d728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 txBox="1"/>
          <p:nvPr/>
        </p:nvSpPr>
        <p:spPr>
          <a:xfrm>
            <a:off x="10875240" y="1562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5d7285"/>
                </a:solidFill>
                <a:latin typeface="Noto Sans CJK JP"/>
              </a:rPr>
              <a:t>3938 ms</a:t>
            </a:r>
            <a:endParaRPr b="1" lang="en-US" sz="11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5940000" y="2187000"/>
            <a:ext cx="864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audio-first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r"/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優先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81" name=""/>
          <p:cNvSpPr/>
          <p:nvPr/>
        </p:nvSpPr>
        <p:spPr>
          <a:xfrm>
            <a:off x="6876000" y="2305440"/>
            <a:ext cx="4320000" cy="31032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6876000" y="2305440"/>
            <a:ext cx="2198880" cy="31032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9118080" y="2183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1677ff"/>
                </a:solidFill>
                <a:latin typeface="Noto Sans CJK JP"/>
              </a:rPr>
              <a:t>2189 ms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184" name=""/>
          <p:cNvSpPr txBox="1"/>
          <p:nvPr/>
        </p:nvSpPr>
        <p:spPr>
          <a:xfrm>
            <a:off x="5940000" y="2808000"/>
            <a:ext cx="864000" cy="7624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background-first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OFF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85" name=""/>
          <p:cNvSpPr/>
          <p:nvPr/>
        </p:nvSpPr>
        <p:spPr>
          <a:xfrm>
            <a:off x="6876000" y="2926440"/>
            <a:ext cx="4320000" cy="31032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"/>
          <p:cNvSpPr/>
          <p:nvPr/>
        </p:nvSpPr>
        <p:spPr>
          <a:xfrm>
            <a:off x="6876000" y="2926440"/>
            <a:ext cx="4012560" cy="310320"/>
          </a:xfrm>
          <a:prstGeom prst="roundRect">
            <a:avLst/>
          </a:prstGeom>
          <a:solidFill>
            <a:srgbClr val="5d728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10931760" y="2804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5d7285"/>
                </a:solidFill>
                <a:latin typeface="Noto Sans CJK JP"/>
              </a:rPr>
              <a:t>3994 ms</a:t>
            </a:r>
            <a:endParaRPr b="1" lang="en-US" sz="11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188" name=""/>
          <p:cNvSpPr txBox="1"/>
          <p:nvPr/>
        </p:nvSpPr>
        <p:spPr>
          <a:xfrm>
            <a:off x="5940000" y="3429000"/>
            <a:ext cx="864000" cy="7624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background-first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r"/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優先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189" name=""/>
          <p:cNvSpPr/>
          <p:nvPr/>
        </p:nvSpPr>
        <p:spPr>
          <a:xfrm>
            <a:off x="6876000" y="3547440"/>
            <a:ext cx="4320000" cy="31032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"/>
          <p:cNvSpPr/>
          <p:nvPr/>
        </p:nvSpPr>
        <p:spPr>
          <a:xfrm>
            <a:off x="6876000" y="3547440"/>
            <a:ext cx="1962000" cy="31032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8881200" y="3425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1677ff"/>
                </a:solidFill>
                <a:latin typeface="Noto Sans CJK JP"/>
              </a:rPr>
              <a:t>1953 ms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192" name=""/>
          <p:cNvSpPr/>
          <p:nvPr/>
        </p:nvSpPr>
        <p:spPr>
          <a:xfrm>
            <a:off x="6876000" y="4248000"/>
            <a:ext cx="1116000" cy="23400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6894000" y="4275000"/>
            <a:ext cx="10800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44%</a:t>
            </a:r>
            <a:r>
              <a:rPr b="1" lang="zh-CN" sz="1200" spc="-1" strike="noStrike">
                <a:solidFill>
                  <a:srgbClr val="ffffff"/>
                </a:solidFill>
                <a:latin typeface="Noto Sans CJK JP"/>
              </a:rPr>
              <a:t>改善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94" name=""/>
          <p:cNvSpPr/>
          <p:nvPr/>
        </p:nvSpPr>
        <p:spPr>
          <a:xfrm>
            <a:off x="9288000" y="4248000"/>
            <a:ext cx="1116000" cy="234000"/>
          </a:xfrm>
          <a:prstGeom prst="roundRect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9306000" y="4275000"/>
            <a:ext cx="10800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51%</a:t>
            </a:r>
            <a:r>
              <a:rPr b="1" lang="zh-CN" sz="1200" spc="-1" strike="noStrike">
                <a:solidFill>
                  <a:srgbClr val="ffffff"/>
                </a:solidFill>
                <a:latin typeface="Noto Sans CJK JP"/>
              </a:rPr>
              <a:t>改善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196" name=""/>
          <p:cNvSpPr/>
          <p:nvPr/>
        </p:nvSpPr>
        <p:spPr>
          <a:xfrm>
            <a:off x="540000" y="4896000"/>
            <a:ext cx="10980000" cy="756000"/>
          </a:xfrm>
          <a:prstGeom prst="roundRect">
            <a:avLst/>
          </a:prstGeom>
          <a:solidFill>
            <a:srgbClr val="fff5d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738000" y="5076000"/>
            <a:ext cx="1062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判断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: 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サイズが違うままでは、自然な完了順を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priority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効果と誤認する。以後は両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track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を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1,944 B / 20 ms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に対称化。</a:t>
            </a:r>
            <a:endParaRPr b="1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深い外部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FIFO</a:t>
            </a:r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では効かず、浅い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queue</a:t>
            </a:r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で効果が現れた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対称トラフィック、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1 Mbps link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、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50 ms downstream delay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02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04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7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05" name=""/>
          <p:cNvSpPr/>
          <p:nvPr/>
        </p:nvSpPr>
        <p:spPr>
          <a:xfrm>
            <a:off x="540000" y="1116000"/>
            <a:ext cx="5220000" cy="151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756000" y="1260000"/>
            <a:ext cx="2340000" cy="77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queue = 1,000 packets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07" name=""/>
          <p:cNvSpPr/>
          <p:nvPr/>
        </p:nvSpPr>
        <p:spPr>
          <a:xfrm>
            <a:off x="4032000" y="1242000"/>
            <a:ext cx="1188000" cy="234000"/>
          </a:xfrm>
          <a:prstGeom prst="roundRect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"/>
          <p:cNvSpPr txBox="1"/>
          <p:nvPr/>
        </p:nvSpPr>
        <p:spPr>
          <a:xfrm>
            <a:off x="4050000" y="1269000"/>
            <a:ext cx="11520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loss 0%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209" name=""/>
          <p:cNvSpPr txBox="1"/>
          <p:nvPr/>
        </p:nvSpPr>
        <p:spPr>
          <a:xfrm>
            <a:off x="756000" y="1638000"/>
            <a:ext cx="4140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全</a:t>
            </a:r>
            <a:r>
              <a:rPr b="0" lang="en-US" sz="1600" spc="-1" strike="noStrike">
                <a:solidFill>
                  <a:srgbClr val="17324d"/>
                </a:solidFill>
                <a:latin typeface="Noto Sans CJK JP"/>
              </a:rPr>
              <a:t>mode</a:t>
            </a:r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の</a:t>
            </a:r>
            <a:r>
              <a:rPr b="0" lang="en-US" sz="1600" spc="-1" strike="noStrike">
                <a:solidFill>
                  <a:srgbClr val="17324d"/>
                </a:solidFill>
                <a:latin typeface="Noto Sans CJK JP"/>
              </a:rPr>
              <a:t>p50: 706</a:t>
            </a:r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から</a:t>
            </a:r>
            <a:r>
              <a:rPr b="0" lang="en-US" sz="1600" spc="-1" strike="noStrike">
                <a:solidFill>
                  <a:srgbClr val="17324d"/>
                </a:solidFill>
                <a:latin typeface="Noto Sans CJK JP"/>
              </a:rPr>
              <a:t>720 ms</a:t>
            </a:r>
            <a:endParaRPr b="0" lang="en-US" sz="16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600" spc="-1" strike="noStrike">
                <a:solidFill>
                  <a:srgbClr val="17324d"/>
                </a:solidFill>
                <a:latin typeface="Noto Sans CJK JP"/>
              </a:rPr>
              <a:t>priority</a:t>
            </a:r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による実質差なし</a:t>
            </a:r>
            <a:endParaRPr b="0" lang="en-US" sz="16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10" name=""/>
          <p:cNvSpPr txBox="1"/>
          <p:nvPr/>
        </p:nvSpPr>
        <p:spPr>
          <a:xfrm>
            <a:off x="756000" y="2268000"/>
            <a:ext cx="396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200" spc="-1" strike="noStrike">
                <a:solidFill>
                  <a:srgbClr val="5d7285"/>
                </a:solidFill>
                <a:latin typeface="Noto Sans CJK JP"/>
              </a:rPr>
              <a:t>Quinn</a:t>
            </a:r>
            <a:r>
              <a:rPr b="0" lang="zh-CN" sz="1200" spc="-1" strike="noStrike">
                <a:solidFill>
                  <a:srgbClr val="5d7285"/>
                </a:solidFill>
                <a:latin typeface="Noto Sans CJK JP"/>
              </a:rPr>
              <a:t>送出後の</a:t>
            </a:r>
            <a:r>
              <a:rPr b="0" lang="en-US" sz="1200" spc="-1" strike="noStrike">
                <a:solidFill>
                  <a:srgbClr val="5d7285"/>
                </a:solidFill>
                <a:latin typeface="Noto Sans CJK JP"/>
              </a:rPr>
              <a:t>FIFO</a:t>
            </a:r>
            <a:r>
              <a:rPr b="0" lang="zh-CN" sz="1200" spc="-1" strike="noStrike">
                <a:solidFill>
                  <a:srgbClr val="5d7285"/>
                </a:solidFill>
                <a:latin typeface="Noto Sans CJK JP"/>
              </a:rPr>
              <a:t>が全余剰を吸収</a:t>
            </a:r>
            <a:endParaRPr b="0" lang="en-US" sz="12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11" name=""/>
          <p:cNvSpPr/>
          <p:nvPr/>
        </p:nvSpPr>
        <p:spPr>
          <a:xfrm>
            <a:off x="6228000" y="1116000"/>
            <a:ext cx="5292000" cy="151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"/>
          <p:cNvSpPr txBox="1"/>
          <p:nvPr/>
        </p:nvSpPr>
        <p:spPr>
          <a:xfrm>
            <a:off x="6444000" y="1260000"/>
            <a:ext cx="2340000" cy="77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queue</a:t>
            </a:r>
            <a:r>
              <a:rPr b="1" lang="zh-CN" sz="1900" spc="-1" strike="noStrike">
                <a:solidFill>
                  <a:srgbClr val="102a43"/>
                </a:solidFill>
                <a:latin typeface="Noto Sans CJK JP"/>
              </a:rPr>
              <a:t>を段階的に縮小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13" name=""/>
          <p:cNvSpPr/>
          <p:nvPr/>
        </p:nvSpPr>
        <p:spPr>
          <a:xfrm>
            <a:off x="9792000" y="1242000"/>
            <a:ext cx="1188000" cy="234000"/>
          </a:xfrm>
          <a:prstGeom prst="roundRect">
            <a:avLst/>
          </a:prstGeom>
          <a:solidFill>
            <a:srgbClr val="e54b4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9810000" y="1269000"/>
            <a:ext cx="11520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loss</a:t>
            </a:r>
            <a:r>
              <a:rPr b="1" lang="zh-CN" sz="1200" spc="-1" strike="noStrike">
                <a:solidFill>
                  <a:srgbClr val="ffffff"/>
                </a:solidFill>
                <a:latin typeface="Noto Sans CJK JP"/>
              </a:rPr>
              <a:t>増加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215" name=""/>
          <p:cNvSpPr txBox="1"/>
          <p:nvPr/>
        </p:nvSpPr>
        <p:spPr>
          <a:xfrm>
            <a:off x="6444000" y="1638000"/>
            <a:ext cx="4500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再送と</a:t>
            </a:r>
            <a:r>
              <a:rPr b="0" lang="en-US" sz="1600" spc="-1" strike="noStrike">
                <a:solidFill>
                  <a:srgbClr val="17324d"/>
                </a:solidFill>
                <a:latin typeface="Noto Sans CJK JP"/>
              </a:rPr>
              <a:t>ACK</a:t>
            </a:r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遅延により、</a:t>
            </a:r>
            <a:r>
              <a:rPr b="0" lang="en-US" sz="1600" spc="-1" strike="noStrike">
                <a:solidFill>
                  <a:srgbClr val="17324d"/>
                </a:solidFill>
                <a:latin typeface="Noto Sans CJK JP"/>
              </a:rPr>
              <a:t>byte range</a:t>
            </a:r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が</a:t>
            </a:r>
            <a:endParaRPr b="0" lang="en-US" sz="16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600" spc="-1" strike="noStrike">
                <a:solidFill>
                  <a:srgbClr val="17324d"/>
                </a:solidFill>
                <a:latin typeface="Noto Sans CJK JP"/>
              </a:rPr>
              <a:t>priority-aware scheduler</a:t>
            </a:r>
            <a:r>
              <a:rPr b="0" lang="zh-CN" sz="1600" spc="-1" strike="noStrike">
                <a:solidFill>
                  <a:srgbClr val="17324d"/>
                </a:solidFill>
                <a:latin typeface="Noto Sans CJK JP"/>
              </a:rPr>
              <a:t>へ繰り返し戻る</a:t>
            </a:r>
            <a:endParaRPr b="0" lang="en-US" sz="16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16" name=""/>
          <p:cNvSpPr/>
          <p:nvPr/>
        </p:nvSpPr>
        <p:spPr>
          <a:xfrm>
            <a:off x="1260000" y="3042000"/>
            <a:ext cx="0" cy="1962000"/>
          </a:xfrm>
          <a:prstGeom prst="line">
            <a:avLst/>
          </a:prstGeom>
          <a:ln w="9000">
            <a:solidFill>
              <a:srgbClr val="5d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"/>
          <p:cNvSpPr/>
          <p:nvPr/>
        </p:nvSpPr>
        <p:spPr>
          <a:xfrm>
            <a:off x="1260000" y="5004000"/>
            <a:ext cx="9270000" cy="0"/>
          </a:xfrm>
          <a:prstGeom prst="line">
            <a:avLst/>
          </a:prstGeom>
          <a:ln w="9000">
            <a:solidFill>
              <a:srgbClr val="5d728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"/>
          <p:cNvSpPr/>
          <p:nvPr/>
        </p:nvSpPr>
        <p:spPr>
          <a:xfrm>
            <a:off x="1260000" y="5004000"/>
            <a:ext cx="9270000" cy="0"/>
          </a:xfrm>
          <a:prstGeom prst="line">
            <a:avLst/>
          </a:prstGeom>
          <a:ln w="54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2520" rIns="92520" tIns="-47520" bIns="-47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936000" y="4942800"/>
            <a:ext cx="27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0%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20" name=""/>
          <p:cNvSpPr/>
          <p:nvPr/>
        </p:nvSpPr>
        <p:spPr>
          <a:xfrm>
            <a:off x="1260000" y="4023000"/>
            <a:ext cx="9270000" cy="0"/>
          </a:xfrm>
          <a:prstGeom prst="line">
            <a:avLst/>
          </a:prstGeom>
          <a:ln w="54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2520" rIns="92520" tIns="-47520" bIns="-47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936000" y="3961800"/>
            <a:ext cx="27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25%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22" name=""/>
          <p:cNvSpPr/>
          <p:nvPr/>
        </p:nvSpPr>
        <p:spPr>
          <a:xfrm>
            <a:off x="1260000" y="3042000"/>
            <a:ext cx="9270000" cy="0"/>
          </a:xfrm>
          <a:prstGeom prst="line">
            <a:avLst/>
          </a:prstGeom>
          <a:ln w="54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2520" rIns="92520" tIns="-47520" bIns="-475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936000" y="2980800"/>
            <a:ext cx="27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50%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1026000" y="506880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950" spc="-1" strike="noStrike">
                <a:solidFill>
                  <a:srgbClr val="5d7285"/>
                </a:solidFill>
                <a:latin typeface="Noto Sans CJK JP"/>
              </a:rPr>
              <a:t>1000</a:t>
            </a:r>
            <a:endParaRPr b="0" lang="en-US" sz="9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25" name=""/>
          <p:cNvSpPr/>
          <p:nvPr/>
        </p:nvSpPr>
        <p:spPr>
          <a:xfrm>
            <a:off x="1222200" y="4946400"/>
            <a:ext cx="75600" cy="756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30600" bIns="30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1026000" y="475020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000" spc="-1" strike="noStrike">
                <a:solidFill>
                  <a:srgbClr val="1677ff"/>
                </a:solidFill>
                <a:latin typeface="Noto Sans CJK JP"/>
              </a:rPr>
              <a:t>0.5%</a:t>
            </a:r>
            <a:endParaRPr b="1" lang="en-US" sz="100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227" name=""/>
          <p:cNvSpPr txBox="1"/>
          <p:nvPr/>
        </p:nvSpPr>
        <p:spPr>
          <a:xfrm>
            <a:off x="3343320" y="506880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950" spc="-1" strike="noStrike">
                <a:solidFill>
                  <a:srgbClr val="5d7285"/>
                </a:solidFill>
                <a:latin typeface="Noto Sans CJK JP"/>
              </a:rPr>
              <a:t>200</a:t>
            </a:r>
            <a:endParaRPr b="0" lang="en-US" sz="9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28" name=""/>
          <p:cNvSpPr/>
          <p:nvPr/>
        </p:nvSpPr>
        <p:spPr>
          <a:xfrm>
            <a:off x="3539520" y="4942440"/>
            <a:ext cx="75600" cy="756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30600" bIns="30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"/>
          <p:cNvSpPr txBox="1"/>
          <p:nvPr/>
        </p:nvSpPr>
        <p:spPr>
          <a:xfrm>
            <a:off x="3343320" y="474624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000" spc="-1" strike="noStrike">
                <a:solidFill>
                  <a:srgbClr val="1677ff"/>
                </a:solidFill>
                <a:latin typeface="Noto Sans CJK JP"/>
              </a:rPr>
              <a:t>0.6%</a:t>
            </a:r>
            <a:endParaRPr b="1" lang="en-US" sz="100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230" name=""/>
          <p:cNvSpPr txBox="1"/>
          <p:nvPr/>
        </p:nvSpPr>
        <p:spPr>
          <a:xfrm>
            <a:off x="5661000" y="506880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950" spc="-1" strike="noStrike">
                <a:solidFill>
                  <a:srgbClr val="5d7285"/>
                </a:solidFill>
                <a:latin typeface="Noto Sans CJK JP"/>
              </a:rPr>
              <a:t>100</a:t>
            </a:r>
            <a:endParaRPr b="0" lang="en-US" sz="9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31" name=""/>
          <p:cNvSpPr/>
          <p:nvPr/>
        </p:nvSpPr>
        <p:spPr>
          <a:xfrm>
            <a:off x="5857200" y="4703040"/>
            <a:ext cx="75600" cy="756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30600" bIns="30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5661000" y="450684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000" spc="-1" strike="noStrike">
                <a:solidFill>
                  <a:srgbClr val="1677ff"/>
                </a:solidFill>
                <a:latin typeface="Noto Sans CJK JP"/>
              </a:rPr>
              <a:t>6.7%</a:t>
            </a:r>
            <a:endParaRPr b="1" lang="en-US" sz="100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233" name=""/>
          <p:cNvSpPr txBox="1"/>
          <p:nvPr/>
        </p:nvSpPr>
        <p:spPr>
          <a:xfrm>
            <a:off x="7978320" y="506880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950" spc="-1" strike="noStrike">
                <a:solidFill>
                  <a:srgbClr val="5d7285"/>
                </a:solidFill>
                <a:latin typeface="Noto Sans CJK JP"/>
              </a:rPr>
              <a:t>50</a:t>
            </a:r>
            <a:endParaRPr b="0" lang="en-US" sz="9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34" name=""/>
          <p:cNvSpPr/>
          <p:nvPr/>
        </p:nvSpPr>
        <p:spPr>
          <a:xfrm>
            <a:off x="8174520" y="4196880"/>
            <a:ext cx="75600" cy="756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30600" bIns="30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7978320" y="400068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000" spc="-1" strike="noStrike">
                <a:solidFill>
                  <a:srgbClr val="1677ff"/>
                </a:solidFill>
                <a:latin typeface="Noto Sans CJK JP"/>
              </a:rPr>
              <a:t>19.6%</a:t>
            </a:r>
            <a:endParaRPr b="1" lang="en-US" sz="100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10296000" y="506880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950" spc="-1" strike="noStrike">
                <a:solidFill>
                  <a:srgbClr val="5d7285"/>
                </a:solidFill>
                <a:latin typeface="Noto Sans CJK JP"/>
              </a:rPr>
              <a:t>20</a:t>
            </a:r>
            <a:endParaRPr b="0" lang="en-US" sz="9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37" name=""/>
          <p:cNvSpPr/>
          <p:nvPr/>
        </p:nvSpPr>
        <p:spPr>
          <a:xfrm>
            <a:off x="10492200" y="3333600"/>
            <a:ext cx="75600" cy="756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30600" bIns="306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10296000" y="3137400"/>
            <a:ext cx="46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000" spc="-1" strike="noStrike">
                <a:solidFill>
                  <a:srgbClr val="1677ff"/>
                </a:solidFill>
                <a:latin typeface="Noto Sans CJK JP"/>
              </a:rPr>
              <a:t>41.6%</a:t>
            </a:r>
            <a:endParaRPr b="1" lang="en-US" sz="100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239" name=""/>
          <p:cNvSpPr/>
          <p:nvPr/>
        </p:nvSpPr>
        <p:spPr>
          <a:xfrm flipV="1">
            <a:off x="1260000" y="4980600"/>
            <a:ext cx="2317320" cy="3600"/>
          </a:xfrm>
          <a:prstGeom prst="line">
            <a:avLst/>
          </a:prstGeom>
          <a:ln w="19800">
            <a:solidFill>
              <a:srgbClr val="167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-51120" bIns="-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"/>
          <p:cNvSpPr/>
          <p:nvPr/>
        </p:nvSpPr>
        <p:spPr>
          <a:xfrm flipV="1">
            <a:off x="3577320" y="4741200"/>
            <a:ext cx="2317320" cy="239040"/>
          </a:xfrm>
          <a:prstGeom prst="line">
            <a:avLst/>
          </a:prstGeom>
          <a:ln w="19800">
            <a:solidFill>
              <a:srgbClr val="167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"/>
          <p:cNvSpPr/>
          <p:nvPr/>
        </p:nvSpPr>
        <p:spPr>
          <a:xfrm flipV="1">
            <a:off x="5895000" y="4234680"/>
            <a:ext cx="2317320" cy="506160"/>
          </a:xfrm>
          <a:prstGeom prst="line">
            <a:avLst/>
          </a:prstGeom>
          <a:ln w="19800">
            <a:solidFill>
              <a:srgbClr val="167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"/>
          <p:cNvSpPr/>
          <p:nvPr/>
        </p:nvSpPr>
        <p:spPr>
          <a:xfrm flipV="1">
            <a:off x="8212320" y="3371400"/>
            <a:ext cx="2317320" cy="863280"/>
          </a:xfrm>
          <a:prstGeom prst="line">
            <a:avLst/>
          </a:prstGeom>
          <a:ln w="19800">
            <a:solidFill>
              <a:srgbClr val="167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9720" rIns="99720" tIns="54720" bIns="547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"/>
          <p:cNvSpPr txBox="1"/>
          <p:nvPr/>
        </p:nvSpPr>
        <p:spPr>
          <a:xfrm>
            <a:off x="4896000" y="5436000"/>
            <a:ext cx="18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000" spc="-1" strike="noStrike">
                <a:solidFill>
                  <a:srgbClr val="5d7285"/>
                </a:solidFill>
                <a:latin typeface="Noto Sans CJK JP"/>
              </a:rPr>
              <a:t>queue depth</a:t>
            </a:r>
            <a:endParaRPr b="0" lang="en-US" sz="10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44" name=""/>
          <p:cNvSpPr txBox="1"/>
          <p:nvPr/>
        </p:nvSpPr>
        <p:spPr>
          <a:xfrm>
            <a:off x="540000" y="2880000"/>
            <a:ext cx="252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200" spc="-1" strike="noStrike">
                <a:solidFill>
                  <a:srgbClr val="102a43"/>
                </a:solidFill>
                <a:latin typeface="Noto Sans CJK JP"/>
              </a:rPr>
              <a:t>選択</a:t>
            </a:r>
            <a:r>
              <a:rPr b="1" lang="en-US" sz="1200" spc="-1" strike="noStrike">
                <a:solidFill>
                  <a:srgbClr val="102a43"/>
                </a:solidFill>
                <a:latin typeface="Noto Sans CJK JP"/>
              </a:rPr>
              <a:t>track</a:t>
            </a:r>
            <a:r>
              <a:rPr b="1" lang="zh-CN" sz="1200" spc="-1" strike="noStrike">
                <a:solidFill>
                  <a:srgbClr val="102a43"/>
                </a:solidFill>
                <a:latin typeface="Noto Sans CJK JP"/>
              </a:rPr>
              <a:t>の平均</a:t>
            </a:r>
            <a:r>
              <a:rPr b="1" lang="en-US" sz="1200" spc="-1" strike="noStrike">
                <a:solidFill>
                  <a:srgbClr val="102a43"/>
                </a:solidFill>
                <a:latin typeface="Noto Sans CJK JP"/>
              </a:rPr>
              <a:t>p50</a:t>
            </a:r>
            <a:r>
              <a:rPr b="1" lang="zh-CN" sz="1200" spc="-1" strike="noStrike">
                <a:solidFill>
                  <a:srgbClr val="102a43"/>
                </a:solidFill>
                <a:latin typeface="Noto Sans CJK JP"/>
              </a:rPr>
              <a:t>改善率</a:t>
            </a:r>
            <a:endParaRPr b="1" lang="en-US" sz="12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45" name=""/>
          <p:cNvSpPr txBox="1"/>
          <p:nvPr/>
        </p:nvSpPr>
        <p:spPr>
          <a:xfrm>
            <a:off x="648000" y="5868000"/>
            <a:ext cx="1062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判断</a:t>
            </a:r>
            <a:r>
              <a:rPr b="1" lang="en-US" sz="1400" spc="-1" strike="noStrike">
                <a:solidFill>
                  <a:srgbClr val="17324d"/>
                </a:solidFill>
                <a:latin typeface="Noto Sans CJK JP"/>
              </a:rPr>
              <a:t>: </a:t>
            </a:r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損失が必要なのか、損失が内部競合を作っただけなのかを切り分ける必要がある。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優先度がどこまで正しく伝わるかを追跡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MoQ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境界、接続全体、個別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STREAM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の順に観測範囲を狭めた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50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8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53" name=""/>
          <p:cNvSpPr/>
          <p:nvPr/>
        </p:nvSpPr>
        <p:spPr>
          <a:xfrm>
            <a:off x="540000" y="1332000"/>
            <a:ext cx="3348000" cy="2736000"/>
          </a:xfrm>
          <a:prstGeom prst="roundRect">
            <a:avLst/>
          </a:prstGeom>
          <a:solidFill>
            <a:srgbClr val="ffffff"/>
          </a:solidFill>
          <a:ln w="14400">
            <a:solidFill>
              <a:srgbClr val="27ae60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"/>
          <p:cNvSpPr/>
          <p:nvPr/>
        </p:nvSpPr>
        <p:spPr>
          <a:xfrm>
            <a:off x="1818000" y="1044000"/>
            <a:ext cx="576000" cy="57600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1818000" y="1159200"/>
            <a:ext cx="576000" cy="4410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2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256" name=""/>
          <p:cNvSpPr txBox="1"/>
          <p:nvPr/>
        </p:nvSpPr>
        <p:spPr>
          <a:xfrm>
            <a:off x="774000" y="1800000"/>
            <a:ext cx="2880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MoQ test transport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57" name=""/>
          <p:cNvSpPr txBox="1"/>
          <p:nvPr/>
        </p:nvSpPr>
        <p:spPr>
          <a:xfrm>
            <a:off x="828000" y="2268000"/>
            <a:ext cx="2772000" cy="8726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明示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priority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は購読順に依存せず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正しい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send_order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へ変換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58" name=""/>
          <p:cNvSpPr/>
          <p:nvPr/>
        </p:nvSpPr>
        <p:spPr>
          <a:xfrm>
            <a:off x="3924000" y="2682000"/>
            <a:ext cx="288000" cy="0"/>
          </a:xfrm>
          <a:prstGeom prst="line">
            <a:avLst/>
          </a:prstGeom>
          <a:ln w="16200">
            <a:solidFill>
              <a:srgbClr val="5d72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"/>
          <p:cNvSpPr/>
          <p:nvPr/>
        </p:nvSpPr>
        <p:spPr>
          <a:xfrm>
            <a:off x="4284000" y="1332000"/>
            <a:ext cx="3348000" cy="2736000"/>
          </a:xfrm>
          <a:prstGeom prst="roundRect">
            <a:avLst/>
          </a:prstGeom>
          <a:solidFill>
            <a:srgbClr val="ffffff"/>
          </a:solidFill>
          <a:ln w="14400">
            <a:solidFill>
              <a:srgbClr val="1677ff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"/>
          <p:cNvSpPr/>
          <p:nvPr/>
        </p:nvSpPr>
        <p:spPr>
          <a:xfrm>
            <a:off x="5562000" y="1044000"/>
            <a:ext cx="576000" cy="576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5562000" y="1159200"/>
            <a:ext cx="576000" cy="4410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2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262" name=""/>
          <p:cNvSpPr txBox="1"/>
          <p:nvPr/>
        </p:nvSpPr>
        <p:spPr>
          <a:xfrm>
            <a:off x="4518000" y="1800000"/>
            <a:ext cx="2880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Quinn qlog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4572000" y="2268000"/>
            <a:ext cx="2772000" cy="8726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loss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・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RTT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・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cwnd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・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PTO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は条件間で近い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接続全体の偏りでは説明不能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64" name=""/>
          <p:cNvSpPr/>
          <p:nvPr/>
        </p:nvSpPr>
        <p:spPr>
          <a:xfrm>
            <a:off x="7668000" y="2682000"/>
            <a:ext cx="288000" cy="0"/>
          </a:xfrm>
          <a:prstGeom prst="line">
            <a:avLst/>
          </a:prstGeom>
          <a:ln w="16200">
            <a:solidFill>
              <a:srgbClr val="5d7285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7920" rIns="97920" tIns="-52920" bIns="-529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"/>
          <p:cNvSpPr/>
          <p:nvPr/>
        </p:nvSpPr>
        <p:spPr>
          <a:xfrm>
            <a:off x="8028000" y="1332000"/>
            <a:ext cx="3348000" cy="2736000"/>
          </a:xfrm>
          <a:prstGeom prst="roundRect">
            <a:avLst/>
          </a:prstGeom>
          <a:solidFill>
            <a:srgbClr val="ffffff"/>
          </a:solidFill>
          <a:ln w="14400">
            <a:solidFill>
              <a:srgbClr val="f59e0b"/>
            </a:solidFill>
            <a:round/>
          </a:ln>
        </p:spPr>
        <p:txBody>
          <a:bodyPr lIns="97200" rIns="97200" tIns="52200" bIns="522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"/>
          <p:cNvSpPr/>
          <p:nvPr/>
        </p:nvSpPr>
        <p:spPr>
          <a:xfrm>
            <a:off x="9306000" y="1044000"/>
            <a:ext cx="576000" cy="576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9306000" y="1159200"/>
            <a:ext cx="576000" cy="4410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0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20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8262000" y="1800000"/>
            <a:ext cx="2880000" cy="77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900" spc="-1" strike="noStrike">
                <a:solidFill>
                  <a:srgbClr val="102a43"/>
                </a:solidFill>
                <a:latin typeface="Noto Sans CJK JP"/>
              </a:rPr>
              <a:t>STREAM instrumentation</a:t>
            </a:r>
            <a:endParaRPr b="1" lang="en-US" sz="19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8316000" y="2268000"/>
            <a:ext cx="2772000" cy="11394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track / sequence / stream ID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を対応付け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全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scheduled byte range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を再構成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70" name=""/>
          <p:cNvSpPr/>
          <p:nvPr/>
        </p:nvSpPr>
        <p:spPr>
          <a:xfrm>
            <a:off x="540000" y="4536000"/>
            <a:ext cx="10836000" cy="1044000"/>
          </a:xfrm>
          <a:prstGeom prst="roundRect">
            <a:avLst/>
          </a:prstGeom>
          <a:solidFill>
            <a:srgbClr val="eaf3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"/>
          <p:cNvSpPr txBox="1"/>
          <p:nvPr/>
        </p:nvSpPr>
        <p:spPr>
          <a:xfrm>
            <a:off x="756000" y="4680000"/>
            <a:ext cx="162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600" spc="-1" strike="noStrike">
                <a:solidFill>
                  <a:srgbClr val="1677ff"/>
                </a:solidFill>
                <a:latin typeface="Noto Sans CJK JP"/>
              </a:rPr>
              <a:t>直接観測の結果</a:t>
            </a:r>
            <a:endParaRPr b="1" lang="en-US" sz="160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756000" y="4968000"/>
            <a:ext cx="10368000" cy="6238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重損失下では、選択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track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の最終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schedule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が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33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から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49%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早まり、再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schedule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された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byte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比率も低下。</a:t>
            </a:r>
            <a:endParaRPr b="1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効果は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Quinn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内部の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loss recovery scheduling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に存在した。</a:t>
            </a:r>
            <a:endParaRPr b="1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改善実験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: </a:t>
            </a:r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損失なしで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Quinn</a:t>
            </a:r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内部に競合を作る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76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send_window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ではなく、一時的な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fixed congestion controller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で送信境界を制約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77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79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9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80" name=""/>
          <p:cNvSpPr/>
          <p:nvPr/>
        </p:nvSpPr>
        <p:spPr>
          <a:xfrm>
            <a:off x="540000" y="1116000"/>
            <a:ext cx="3312000" cy="18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"/>
          <p:cNvSpPr/>
          <p:nvPr/>
        </p:nvSpPr>
        <p:spPr>
          <a:xfrm>
            <a:off x="540000" y="1116000"/>
            <a:ext cx="39600" cy="1800000"/>
          </a:xfrm>
          <a:prstGeom prst="rect">
            <a:avLst/>
          </a:prstGeom>
          <a:solidFill>
            <a:srgbClr val="e54b4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"/>
          <p:cNvSpPr txBox="1"/>
          <p:nvPr/>
        </p:nvSpPr>
        <p:spPr>
          <a:xfrm>
            <a:off x="702000" y="1224000"/>
            <a:ext cx="3042000" cy="73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失敗した試行｜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send_window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83" name=""/>
          <p:cNvSpPr txBox="1"/>
          <p:nvPr/>
        </p:nvSpPr>
        <p:spPr>
          <a:xfrm>
            <a:off x="702000" y="1494000"/>
            <a:ext cx="3042000" cy="11394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12.5 KB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は実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RTT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約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50 ms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では約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2 Mbps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相当。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合計負荷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1.555 Mbps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を上回り、外部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FIFO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が依然として遅延を保持。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84" name=""/>
          <p:cNvSpPr/>
          <p:nvPr/>
        </p:nvSpPr>
        <p:spPr>
          <a:xfrm>
            <a:off x="4392000" y="1116000"/>
            <a:ext cx="3312000" cy="18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"/>
          <p:cNvSpPr/>
          <p:nvPr/>
        </p:nvSpPr>
        <p:spPr>
          <a:xfrm>
            <a:off x="4392000" y="1116000"/>
            <a:ext cx="39600" cy="180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"/>
          <p:cNvSpPr txBox="1"/>
          <p:nvPr/>
        </p:nvSpPr>
        <p:spPr>
          <a:xfrm>
            <a:off x="4554000" y="1224000"/>
            <a:ext cx="3042000" cy="73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改善｜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fixed cwnd = 5,000 B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87" name=""/>
          <p:cNvSpPr txBox="1"/>
          <p:nvPr/>
        </p:nvSpPr>
        <p:spPr>
          <a:xfrm>
            <a:off x="4554000" y="1494000"/>
            <a:ext cx="3042000" cy="11394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Quinn pacer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を約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1 Mbps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へ制約。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外部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link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は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100 Mbps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に上げ、外部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queue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をボトルネックから除外。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88" name=""/>
          <p:cNvSpPr/>
          <p:nvPr/>
        </p:nvSpPr>
        <p:spPr>
          <a:xfrm>
            <a:off x="8244000" y="1116000"/>
            <a:ext cx="3312000" cy="1800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"/>
          <p:cNvSpPr/>
          <p:nvPr/>
        </p:nvSpPr>
        <p:spPr>
          <a:xfrm>
            <a:off x="8244000" y="1116000"/>
            <a:ext cx="39600" cy="18000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406000" y="1224000"/>
            <a:ext cx="304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完全性確認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91" name=""/>
          <p:cNvSpPr txBox="1"/>
          <p:nvPr/>
        </p:nvSpPr>
        <p:spPr>
          <a:xfrm>
            <a:off x="8406000" y="1494000"/>
            <a:ext cx="3042000" cy="8726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120 runs / 24,000 groups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proxy loss 0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、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STREAM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再送 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0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全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group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と</a:t>
            </a:r>
            <a:r>
              <a:rPr b="0" lang="en-US" sz="1450" spc="-1" strike="noStrike">
                <a:solidFill>
                  <a:srgbClr val="17324d"/>
                </a:solidFill>
                <a:latin typeface="Noto Sans CJK JP"/>
              </a:rPr>
              <a:t>stream</a:t>
            </a:r>
            <a:r>
              <a:rPr b="0" lang="zh-CN" sz="1450" spc="-1" strike="noStrike">
                <a:solidFill>
                  <a:srgbClr val="17324d"/>
                </a:solidFill>
                <a:latin typeface="Noto Sans CJK JP"/>
              </a:rPr>
              <a:t>を対応付け。</a:t>
            </a:r>
            <a:endParaRPr b="0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648000" y="3240000"/>
            <a:ext cx="396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選択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track</a:t>
            </a:r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の</a:t>
            </a:r>
            <a:r>
              <a:rPr b="1" lang="en-US" sz="1800" spc="-1" strike="noStrike">
                <a:solidFill>
                  <a:srgbClr val="102a43"/>
                </a:solidFill>
                <a:latin typeface="Noto Sans CJK JP"/>
              </a:rPr>
              <a:t>application p50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612000" y="3618000"/>
            <a:ext cx="864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equal priority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94" name=""/>
          <p:cNvSpPr/>
          <p:nvPr/>
        </p:nvSpPr>
        <p:spPr>
          <a:xfrm>
            <a:off x="1548000" y="3766320"/>
            <a:ext cx="5400000" cy="37800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"/>
          <p:cNvSpPr/>
          <p:nvPr/>
        </p:nvSpPr>
        <p:spPr>
          <a:xfrm>
            <a:off x="1548000" y="3766320"/>
            <a:ext cx="4949280" cy="378000"/>
          </a:xfrm>
          <a:prstGeom prst="roundRect">
            <a:avLst/>
          </a:prstGeom>
          <a:solidFill>
            <a:srgbClr val="5d7285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6540480" y="3614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5d7285"/>
                </a:solidFill>
                <a:latin typeface="Noto Sans CJK JP"/>
              </a:rPr>
              <a:t>3483 ms</a:t>
            </a:r>
            <a:endParaRPr b="1" lang="en-US" sz="11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612000" y="4374000"/>
            <a:ext cx="864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selected priority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298" name=""/>
          <p:cNvSpPr/>
          <p:nvPr/>
        </p:nvSpPr>
        <p:spPr>
          <a:xfrm>
            <a:off x="1548000" y="4522320"/>
            <a:ext cx="5400000" cy="37800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"/>
          <p:cNvSpPr/>
          <p:nvPr/>
        </p:nvSpPr>
        <p:spPr>
          <a:xfrm>
            <a:off x="1548000" y="4522320"/>
            <a:ext cx="3734280" cy="37800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5325480" y="4370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1677ff"/>
                </a:solidFill>
                <a:latin typeface="Noto Sans CJK JP"/>
              </a:rPr>
              <a:t>2628 ms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301" name=""/>
          <p:cNvSpPr/>
          <p:nvPr/>
        </p:nvSpPr>
        <p:spPr>
          <a:xfrm>
            <a:off x="7848000" y="3456000"/>
            <a:ext cx="3564000" cy="1764000"/>
          </a:xfrm>
          <a:prstGeom prst="roundRect">
            <a:avLst/>
          </a:prstGeom>
          <a:solidFill>
            <a:srgbClr val="eaf8f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8064000" y="3672000"/>
            <a:ext cx="3132000" cy="6242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3000" spc="-1" strike="noStrike">
                <a:solidFill>
                  <a:srgbClr val="27ae60"/>
                </a:solidFill>
                <a:latin typeface="Noto Sans CJK JP"/>
              </a:rPr>
              <a:t>約</a:t>
            </a:r>
            <a:r>
              <a:rPr b="1" lang="en-US" sz="3000" spc="-1" strike="noStrike">
                <a:solidFill>
                  <a:srgbClr val="27ae60"/>
                </a:solidFill>
                <a:latin typeface="Noto Sans CJK JP"/>
              </a:rPr>
              <a:t>24%</a:t>
            </a:r>
            <a:r>
              <a:rPr b="1" lang="zh-CN" sz="3000" spc="-1" strike="noStrike">
                <a:solidFill>
                  <a:srgbClr val="27ae60"/>
                </a:solidFill>
                <a:latin typeface="Noto Sans CJK JP"/>
              </a:rPr>
              <a:t>改善</a:t>
            </a:r>
            <a:endParaRPr b="1" lang="en-US" sz="300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8064000" y="4176000"/>
            <a:ext cx="3132000" cy="9504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1600" spc="-1" strike="noStrike">
                <a:solidFill>
                  <a:srgbClr val="17324d"/>
                </a:solidFill>
                <a:latin typeface="Noto Sans CJK JP"/>
              </a:rPr>
              <a:t>同一</a:t>
            </a:r>
            <a:r>
              <a:rPr b="1" lang="en-US" sz="1600" spc="-1" strike="noStrike">
                <a:solidFill>
                  <a:srgbClr val="17324d"/>
                </a:solidFill>
                <a:latin typeface="Noto Sans CJK JP"/>
              </a:rPr>
              <a:t>sequence</a:t>
            </a:r>
            <a:r>
              <a:rPr b="1" lang="zh-CN" sz="1600" spc="-1" strike="noStrike">
                <a:solidFill>
                  <a:srgbClr val="17324d"/>
                </a:solidFill>
                <a:latin typeface="Noto Sans CJK JP"/>
              </a:rPr>
              <a:t>で選択</a:t>
            </a:r>
            <a:r>
              <a:rPr b="1" lang="en-US" sz="1600" spc="-1" strike="noStrike">
                <a:solidFill>
                  <a:srgbClr val="17324d"/>
                </a:solidFill>
                <a:latin typeface="Noto Sans CJK JP"/>
              </a:rPr>
              <a:t>track</a:t>
            </a:r>
            <a:r>
              <a:rPr b="1" lang="zh-CN" sz="1600" spc="-1" strike="noStrike">
                <a:solidFill>
                  <a:srgbClr val="17324d"/>
                </a:solidFill>
                <a:latin typeface="Noto Sans CJK JP"/>
              </a:rPr>
              <a:t>が</a:t>
            </a:r>
            <a:endParaRPr b="1" lang="en-US" sz="16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600" spc="-1" strike="noStrike">
                <a:solidFill>
                  <a:srgbClr val="17324d"/>
                </a:solidFill>
                <a:latin typeface="Noto Sans CJK JP"/>
              </a:rPr>
              <a:t>先に</a:t>
            </a:r>
            <a:r>
              <a:rPr b="1" lang="en-US" sz="1600" spc="-1" strike="noStrike">
                <a:solidFill>
                  <a:srgbClr val="17324d"/>
                </a:solidFill>
                <a:latin typeface="Noto Sans CJK JP"/>
              </a:rPr>
              <a:t>schedule</a:t>
            </a:r>
            <a:r>
              <a:rPr b="1" lang="zh-CN" sz="1600" spc="-1" strike="noStrike">
                <a:solidFill>
                  <a:srgbClr val="17324d"/>
                </a:solidFill>
                <a:latin typeface="Noto Sans CJK JP"/>
              </a:rPr>
              <a:t>完了</a:t>
            </a:r>
            <a:r>
              <a:rPr b="1" lang="en-US" sz="1600" spc="-1" strike="noStrike">
                <a:solidFill>
                  <a:srgbClr val="17324d"/>
                </a:solidFill>
                <a:latin typeface="Noto Sans CJK JP"/>
              </a:rPr>
              <a:t>: 99</a:t>
            </a:r>
            <a:r>
              <a:rPr b="1" lang="zh-CN" sz="1600" spc="-1" strike="noStrike">
                <a:solidFill>
                  <a:srgbClr val="17324d"/>
                </a:solidFill>
                <a:latin typeface="Noto Sans CJK JP"/>
              </a:rPr>
              <a:t>から</a:t>
            </a:r>
            <a:r>
              <a:rPr b="1" lang="en-US" sz="1600" spc="-1" strike="noStrike">
                <a:solidFill>
                  <a:srgbClr val="17324d"/>
                </a:solidFill>
                <a:latin typeface="Noto Sans CJK JP"/>
              </a:rPr>
              <a:t>100%</a:t>
            </a:r>
            <a:endParaRPr b="1" lang="en-US" sz="16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648000" y="5616000"/>
            <a:ext cx="104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500" spc="-1" strike="noStrike">
                <a:solidFill>
                  <a:srgbClr val="102a43"/>
                </a:solidFill>
                <a:latin typeface="Noto Sans CJK JP"/>
              </a:rPr>
              <a:t>結論</a:t>
            </a:r>
            <a:r>
              <a:rPr b="1" lang="en-US" sz="1500" spc="-1" strike="noStrike">
                <a:solidFill>
                  <a:srgbClr val="102a43"/>
                </a:solidFill>
                <a:latin typeface="Noto Sans CJK JP"/>
              </a:rPr>
              <a:t>: packet loss</a:t>
            </a:r>
            <a:r>
              <a:rPr b="1" lang="zh-CN" sz="1500" spc="-1" strike="noStrike">
                <a:solidFill>
                  <a:srgbClr val="102a43"/>
                </a:solidFill>
                <a:latin typeface="Noto Sans CJK JP"/>
              </a:rPr>
              <a:t>は必須ではない。</a:t>
            </a:r>
            <a:r>
              <a:rPr b="1" lang="en-US" sz="1500" spc="-1" strike="noStrike">
                <a:solidFill>
                  <a:srgbClr val="102a43"/>
                </a:solidFill>
                <a:latin typeface="Noto Sans CJK JP"/>
              </a:rPr>
              <a:t>Quinn</a:t>
            </a:r>
            <a:r>
              <a:rPr b="1" lang="zh-CN" sz="1500" spc="-1" strike="noStrike">
                <a:solidFill>
                  <a:srgbClr val="102a43"/>
                </a:solidFill>
                <a:latin typeface="Noto Sans CJK JP"/>
              </a:rPr>
              <a:t>内部の競合が十分条件。</a:t>
            </a:r>
            <a:endParaRPr b="1" lang="en-US" sz="15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効果の境界は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bandwidth-delay</a:t>
            </a:r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関係で決まる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固定値ではなく、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in-flight budget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と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offered load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の比率で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3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つの領域に分かれる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09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10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12" name=""/>
          <p:cNvSpPr/>
          <p:nvPr/>
        </p:nvSpPr>
        <p:spPr>
          <a:xfrm>
            <a:off x="540000" y="1116000"/>
            <a:ext cx="3384000" cy="12240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f59e0b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"/>
          <p:cNvSpPr/>
          <p:nvPr/>
        </p:nvSpPr>
        <p:spPr>
          <a:xfrm>
            <a:off x="684000" y="1260000"/>
            <a:ext cx="720000" cy="234000"/>
          </a:xfrm>
          <a:prstGeom prst="round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702000" y="1287000"/>
            <a:ext cx="6840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200" spc="-1" strike="noStrike">
                <a:solidFill>
                  <a:srgbClr val="ffffff"/>
                </a:solidFill>
                <a:latin typeface="Noto Sans CJK JP"/>
              </a:rPr>
              <a:t>領域 </a:t>
            </a:r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A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15" name=""/>
          <p:cNvSpPr txBox="1"/>
          <p:nvPr/>
        </p:nvSpPr>
        <p:spPr>
          <a:xfrm>
            <a:off x="1566000" y="1260000"/>
            <a:ext cx="21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1 track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分未満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16" name=""/>
          <p:cNvSpPr txBox="1"/>
          <p:nvPr/>
        </p:nvSpPr>
        <p:spPr>
          <a:xfrm>
            <a:off x="756000" y="1638000"/>
            <a:ext cx="2952000" cy="59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選択側も</a:t>
            </a:r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backlog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改善は小さい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17" name=""/>
          <p:cNvSpPr/>
          <p:nvPr/>
        </p:nvSpPr>
        <p:spPr>
          <a:xfrm>
            <a:off x="4284000" y="1116000"/>
            <a:ext cx="3384000" cy="12240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27ae60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"/>
          <p:cNvSpPr/>
          <p:nvPr/>
        </p:nvSpPr>
        <p:spPr>
          <a:xfrm>
            <a:off x="4428000" y="1260000"/>
            <a:ext cx="720000" cy="234000"/>
          </a:xfrm>
          <a:prstGeom prst="roundRect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"/>
          <p:cNvSpPr txBox="1"/>
          <p:nvPr/>
        </p:nvSpPr>
        <p:spPr>
          <a:xfrm>
            <a:off x="4446000" y="1287000"/>
            <a:ext cx="6840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200" spc="-1" strike="noStrike">
                <a:solidFill>
                  <a:srgbClr val="ffffff"/>
                </a:solidFill>
                <a:latin typeface="Noto Sans CJK JP"/>
              </a:rPr>
              <a:t>領域 </a:t>
            </a:r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B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20" name=""/>
          <p:cNvSpPr txBox="1"/>
          <p:nvPr/>
        </p:nvSpPr>
        <p:spPr>
          <a:xfrm>
            <a:off x="5310000" y="1260000"/>
            <a:ext cx="2124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1 track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以上・合計未満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4500000" y="1638000"/>
            <a:ext cx="2952000" cy="59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選択側を維持可能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効果が最大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22" name=""/>
          <p:cNvSpPr/>
          <p:nvPr/>
        </p:nvSpPr>
        <p:spPr>
          <a:xfrm>
            <a:off x="8028000" y="1116000"/>
            <a:ext cx="3384000" cy="1224000"/>
          </a:xfrm>
          <a:prstGeom prst="roundRect">
            <a:avLst/>
          </a:prstGeom>
          <a:solidFill>
            <a:srgbClr val="ffffff"/>
          </a:solidFill>
          <a:ln w="12600">
            <a:solidFill>
              <a:srgbClr val="1677ff"/>
            </a:solidFill>
            <a:round/>
          </a:ln>
        </p:spPr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"/>
          <p:cNvSpPr/>
          <p:nvPr/>
        </p:nvSpPr>
        <p:spPr>
          <a:xfrm>
            <a:off x="8172000" y="1260000"/>
            <a:ext cx="720000" cy="23400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4" name=""/>
          <p:cNvSpPr txBox="1"/>
          <p:nvPr/>
        </p:nvSpPr>
        <p:spPr>
          <a:xfrm>
            <a:off x="8190000" y="1287000"/>
            <a:ext cx="684000" cy="337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1" lang="zh-CN" sz="1200" spc="-1" strike="noStrike">
                <a:solidFill>
                  <a:srgbClr val="ffffff"/>
                </a:solidFill>
                <a:latin typeface="Noto Sans CJK JP"/>
              </a:rPr>
              <a:t>領域 </a:t>
            </a:r>
            <a:r>
              <a:rPr b="1" lang="en-US" sz="1200" spc="-1" strike="noStrike">
                <a:solidFill>
                  <a:srgbClr val="ffffff"/>
                </a:solidFill>
                <a:latin typeface="Noto Sans CJK JP"/>
              </a:rPr>
              <a:t>C</a:t>
            </a:r>
            <a:endParaRPr b="1" lang="en-US" sz="12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325" name=""/>
          <p:cNvSpPr txBox="1"/>
          <p:nvPr/>
        </p:nvSpPr>
        <p:spPr>
          <a:xfrm>
            <a:off x="9054000" y="1260000"/>
            <a:ext cx="21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合計負荷以上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26" name=""/>
          <p:cNvSpPr txBox="1"/>
          <p:nvPr/>
        </p:nvSpPr>
        <p:spPr>
          <a:xfrm>
            <a:off x="8244000" y="1638000"/>
            <a:ext cx="2952000" cy="59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両</a:t>
            </a:r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track</a:t>
            </a:r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を即時</a:t>
            </a:r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schedule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遅延効果なし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27" name=""/>
          <p:cNvSpPr txBox="1"/>
          <p:nvPr/>
        </p:nvSpPr>
        <p:spPr>
          <a:xfrm>
            <a:off x="576000" y="2736000"/>
            <a:ext cx="46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75 ms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固定で</a:t>
            </a:r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cwnd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を変更した修正後結果</a:t>
            </a:r>
            <a:endParaRPr b="1" lang="en-US" sz="17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28" name=""/>
          <p:cNvSpPr txBox="1"/>
          <p:nvPr/>
        </p:nvSpPr>
        <p:spPr>
          <a:xfrm>
            <a:off x="540000" y="3042000"/>
            <a:ext cx="86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6,000 B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29" name=""/>
          <p:cNvSpPr/>
          <p:nvPr/>
        </p:nvSpPr>
        <p:spPr>
          <a:xfrm>
            <a:off x="1476000" y="3171600"/>
            <a:ext cx="3960000" cy="33588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"/>
          <p:cNvSpPr/>
          <p:nvPr/>
        </p:nvSpPr>
        <p:spPr>
          <a:xfrm>
            <a:off x="1476000" y="3171600"/>
            <a:ext cx="380160" cy="335880"/>
          </a:xfrm>
          <a:prstGeom prst="round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1899360" y="30384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f59e0b"/>
                </a:solidFill>
                <a:latin typeface="Noto Sans CJK JP"/>
              </a:rPr>
              <a:t>7.2%</a:t>
            </a:r>
            <a:endParaRPr b="1" lang="en-US" sz="1150" spc="-1" strike="noStrike">
              <a:solidFill>
                <a:srgbClr val="f59e0b"/>
              </a:solidFill>
              <a:latin typeface="Noto Sans CJK JP"/>
              <a:ea typeface="Noto Sans CJK JP"/>
            </a:endParaRPr>
          </a:p>
        </p:txBody>
      </p:sp>
      <p:sp>
        <p:nvSpPr>
          <p:cNvPr id="332" name=""/>
          <p:cNvSpPr txBox="1"/>
          <p:nvPr/>
        </p:nvSpPr>
        <p:spPr>
          <a:xfrm>
            <a:off x="540000" y="3713760"/>
            <a:ext cx="86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13,000 B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33" name=""/>
          <p:cNvSpPr/>
          <p:nvPr/>
        </p:nvSpPr>
        <p:spPr>
          <a:xfrm>
            <a:off x="1476000" y="3843720"/>
            <a:ext cx="3960000" cy="33588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"/>
          <p:cNvSpPr/>
          <p:nvPr/>
        </p:nvSpPr>
        <p:spPr>
          <a:xfrm>
            <a:off x="1476000" y="3843720"/>
            <a:ext cx="3695760" cy="335880"/>
          </a:xfrm>
          <a:prstGeom prst="roundRect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5214960" y="371016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27ae60"/>
                </a:solidFill>
                <a:latin typeface="Noto Sans CJK JP"/>
              </a:rPr>
              <a:t>70.0%</a:t>
            </a:r>
            <a:endParaRPr b="1" lang="en-US" sz="115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36" name=""/>
          <p:cNvSpPr txBox="1"/>
          <p:nvPr/>
        </p:nvSpPr>
        <p:spPr>
          <a:xfrm>
            <a:off x="540000" y="4385880"/>
            <a:ext cx="86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20,000 B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37" name=""/>
          <p:cNvSpPr/>
          <p:nvPr/>
        </p:nvSpPr>
        <p:spPr>
          <a:xfrm>
            <a:off x="1476000" y="4515840"/>
            <a:ext cx="3960000" cy="33588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"/>
          <p:cNvSpPr/>
          <p:nvPr/>
        </p:nvSpPr>
        <p:spPr>
          <a:xfrm>
            <a:off x="1476000" y="4515840"/>
            <a:ext cx="7200" cy="33588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526400" y="438228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1677ff"/>
                </a:solidFill>
                <a:latin typeface="Noto Sans CJK JP"/>
              </a:rPr>
              <a:t>0.0%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340" name=""/>
          <p:cNvSpPr txBox="1"/>
          <p:nvPr/>
        </p:nvSpPr>
        <p:spPr>
          <a:xfrm>
            <a:off x="6264000" y="2736000"/>
            <a:ext cx="522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cwnd 13,000 B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固定で</a:t>
            </a:r>
            <a:r>
              <a:rPr b="1" lang="en-US" sz="1700" spc="-1" strike="noStrike">
                <a:solidFill>
                  <a:srgbClr val="102a43"/>
                </a:solidFill>
                <a:latin typeface="Noto Sans CJK JP"/>
              </a:rPr>
              <a:t>delay</a:t>
            </a:r>
            <a:r>
              <a:rPr b="1" lang="zh-CN" sz="1700" spc="-1" strike="noStrike">
                <a:solidFill>
                  <a:srgbClr val="102a43"/>
                </a:solidFill>
                <a:latin typeface="Noto Sans CJK JP"/>
              </a:rPr>
              <a:t>を変更した修正後結果</a:t>
            </a:r>
            <a:endParaRPr b="1" lang="en-US" sz="17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41" name=""/>
          <p:cNvSpPr txBox="1"/>
          <p:nvPr/>
        </p:nvSpPr>
        <p:spPr>
          <a:xfrm>
            <a:off x="6156000" y="3042000"/>
            <a:ext cx="86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25 ms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42" name=""/>
          <p:cNvSpPr/>
          <p:nvPr/>
        </p:nvSpPr>
        <p:spPr>
          <a:xfrm>
            <a:off x="7092000" y="3134880"/>
            <a:ext cx="4104000" cy="25200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"/>
          <p:cNvSpPr/>
          <p:nvPr/>
        </p:nvSpPr>
        <p:spPr>
          <a:xfrm>
            <a:off x="7092000" y="3134880"/>
            <a:ext cx="7200" cy="252000"/>
          </a:xfrm>
          <a:prstGeom prst="round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7142400" y="3038400"/>
            <a:ext cx="43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1677ff"/>
                </a:solidFill>
                <a:latin typeface="Noto Sans CJK JP"/>
              </a:rPr>
              <a:t>0.0%</a:t>
            </a:r>
            <a:endParaRPr b="1" lang="en-US" sz="11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6156000" y="3546000"/>
            <a:ext cx="86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75 ms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46" name=""/>
          <p:cNvSpPr/>
          <p:nvPr/>
        </p:nvSpPr>
        <p:spPr>
          <a:xfrm>
            <a:off x="7092000" y="3638880"/>
            <a:ext cx="4104000" cy="25200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"/>
          <p:cNvSpPr/>
          <p:nvPr/>
        </p:nvSpPr>
        <p:spPr>
          <a:xfrm>
            <a:off x="7092000" y="3638880"/>
            <a:ext cx="3830400" cy="252000"/>
          </a:xfrm>
          <a:prstGeom prst="roundRect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10965600" y="3542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27ae60"/>
                </a:solidFill>
                <a:latin typeface="Noto Sans CJK JP"/>
              </a:rPr>
              <a:t>70.0%</a:t>
            </a:r>
            <a:endParaRPr b="1" lang="en-US" sz="115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6156000" y="4050000"/>
            <a:ext cx="86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100 ms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50" name=""/>
          <p:cNvSpPr/>
          <p:nvPr/>
        </p:nvSpPr>
        <p:spPr>
          <a:xfrm>
            <a:off x="7092000" y="4142880"/>
            <a:ext cx="4104000" cy="25200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"/>
          <p:cNvSpPr/>
          <p:nvPr/>
        </p:nvSpPr>
        <p:spPr>
          <a:xfrm>
            <a:off x="7092000" y="4142880"/>
            <a:ext cx="1039680" cy="252000"/>
          </a:xfrm>
          <a:prstGeom prst="round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"/>
          <p:cNvSpPr txBox="1"/>
          <p:nvPr/>
        </p:nvSpPr>
        <p:spPr>
          <a:xfrm>
            <a:off x="8174880" y="4046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f59e0b"/>
                </a:solidFill>
                <a:latin typeface="Noto Sans CJK JP"/>
              </a:rPr>
              <a:t>19.0%</a:t>
            </a:r>
            <a:endParaRPr b="1" lang="en-US" sz="1150" spc="-1" strike="noStrike">
              <a:solidFill>
                <a:srgbClr val="f59e0b"/>
              </a:solidFill>
              <a:latin typeface="Noto Sans CJK JP"/>
              <a:ea typeface="Noto Sans CJK JP"/>
            </a:endParaRPr>
          </a:p>
        </p:txBody>
      </p:sp>
      <p:sp>
        <p:nvSpPr>
          <p:cNvPr id="353" name=""/>
          <p:cNvSpPr txBox="1"/>
          <p:nvPr/>
        </p:nvSpPr>
        <p:spPr>
          <a:xfrm>
            <a:off x="6156000" y="4554000"/>
            <a:ext cx="86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150 ms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54" name=""/>
          <p:cNvSpPr/>
          <p:nvPr/>
        </p:nvSpPr>
        <p:spPr>
          <a:xfrm>
            <a:off x="7092000" y="4646880"/>
            <a:ext cx="4104000" cy="252000"/>
          </a:xfrm>
          <a:prstGeom prst="roundRect">
            <a:avLst/>
          </a:prstGeom>
          <a:solidFill>
            <a:srgbClr val="e8eef4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"/>
          <p:cNvSpPr/>
          <p:nvPr/>
        </p:nvSpPr>
        <p:spPr>
          <a:xfrm>
            <a:off x="7092000" y="4646880"/>
            <a:ext cx="678240" cy="252000"/>
          </a:xfrm>
          <a:prstGeom prst="round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7813440" y="4550400"/>
            <a:ext cx="432000" cy="496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150" spc="-1" strike="noStrike">
                <a:solidFill>
                  <a:srgbClr val="f59e0b"/>
                </a:solidFill>
                <a:latin typeface="Noto Sans CJK JP"/>
              </a:rPr>
              <a:t>12.4%</a:t>
            </a:r>
            <a:endParaRPr b="1" lang="en-US" sz="1150" spc="-1" strike="noStrike">
              <a:solidFill>
                <a:srgbClr val="f59e0b"/>
              </a:solidFill>
              <a:latin typeface="Noto Sans CJK JP"/>
              <a:ea typeface="Noto Sans CJK JP"/>
            </a:endParaRPr>
          </a:p>
        </p:txBody>
      </p:sp>
      <p:sp>
        <p:nvSpPr>
          <p:cNvPr id="357" name=""/>
          <p:cNvSpPr/>
          <p:nvPr/>
        </p:nvSpPr>
        <p:spPr>
          <a:xfrm>
            <a:off x="540000" y="5364000"/>
            <a:ext cx="10980000" cy="612000"/>
          </a:xfrm>
          <a:prstGeom prst="roundRect">
            <a:avLst/>
          </a:prstGeom>
          <a:solidFill>
            <a:srgbClr val="eaf3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"/>
          <p:cNvSpPr txBox="1"/>
          <p:nvPr/>
        </p:nvSpPr>
        <p:spPr>
          <a:xfrm>
            <a:off x="756000" y="5508000"/>
            <a:ext cx="1051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450" spc="-1" strike="noStrike">
                <a:solidFill>
                  <a:srgbClr val="17324d"/>
                </a:solidFill>
                <a:latin typeface="Noto Sans CJK JP"/>
              </a:rPr>
              <a:t>この</a:t>
            </a:r>
            <a:r>
              <a:rPr b="1" lang="en-US" sz="1450" spc="-1" strike="noStrike">
                <a:solidFill>
                  <a:srgbClr val="17324d"/>
                </a:solidFill>
                <a:latin typeface="Noto Sans CJK JP"/>
              </a:rPr>
              <a:t>workload</a:t>
            </a:r>
            <a:r>
              <a:rPr b="1" lang="zh-CN" sz="1450" spc="-1" strike="noStrike">
                <a:solidFill>
                  <a:srgbClr val="17324d"/>
                </a:solidFill>
                <a:latin typeface="Noto Sans CJK JP"/>
              </a:rPr>
              <a:t>では</a:t>
            </a:r>
            <a:r>
              <a:rPr b="1" lang="en-US" sz="1450" spc="-1" strike="noStrike">
                <a:solidFill>
                  <a:srgbClr val="17324d"/>
                </a:solidFill>
                <a:latin typeface="Noto Sans CJK JP"/>
              </a:rPr>
              <a:t>cwnd 12,750</a:t>
            </a:r>
            <a:r>
              <a:rPr b="1" lang="zh-CN" sz="1450" spc="-1" strike="noStrike">
                <a:solidFill>
                  <a:srgbClr val="17324d"/>
                </a:solidFill>
                <a:latin typeface="Noto Sans CJK JP"/>
              </a:rPr>
              <a:t>から</a:t>
            </a:r>
            <a:r>
              <a:rPr b="1" lang="en-US" sz="1450" spc="-1" strike="noStrike">
                <a:solidFill>
                  <a:srgbClr val="17324d"/>
                </a:solidFill>
                <a:latin typeface="Noto Sans CJK JP"/>
              </a:rPr>
              <a:t>13,000 B</a:t>
            </a:r>
            <a:r>
              <a:rPr b="1" lang="zh-CN" sz="1450" spc="-1" strike="noStrike">
                <a:solidFill>
                  <a:srgbClr val="17324d"/>
                </a:solidFill>
                <a:latin typeface="Noto Sans CJK JP"/>
              </a:rPr>
              <a:t>付近で</a:t>
            </a:r>
            <a:r>
              <a:rPr b="1" lang="en-US" sz="1450" spc="-1" strike="noStrike">
                <a:solidFill>
                  <a:srgbClr val="17324d"/>
                </a:solidFill>
                <a:latin typeface="Noto Sans CJK JP"/>
              </a:rPr>
              <a:t>p50</a:t>
            </a:r>
            <a:r>
              <a:rPr b="1" lang="zh-CN" sz="1450" spc="-1" strike="noStrike">
                <a:solidFill>
                  <a:srgbClr val="17324d"/>
                </a:solidFill>
                <a:latin typeface="Noto Sans CJK JP"/>
              </a:rPr>
              <a:t>効果が消失。</a:t>
            </a:r>
            <a:r>
              <a:rPr b="1" lang="en-US" sz="1450" spc="-1" strike="noStrike">
                <a:solidFill>
                  <a:srgbClr val="17324d"/>
                </a:solidFill>
                <a:latin typeface="Noto Sans CJK JP"/>
              </a:rPr>
              <a:t>1 ms</a:t>
            </a:r>
            <a:r>
              <a:rPr b="1" lang="zh-CN" sz="1450" spc="-1" strike="noStrike">
                <a:solidFill>
                  <a:srgbClr val="17324d"/>
                </a:solidFill>
                <a:latin typeface="Noto Sans CJK JP"/>
              </a:rPr>
              <a:t>の生成位相差だけでも境界が移動した。</a:t>
            </a:r>
            <a:endParaRPr b="1" lang="en-US" sz="14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測定誤差の発見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: Subscriber</a:t>
            </a:r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内の</a:t>
            </a:r>
            <a:r>
              <a:rPr b="1" lang="en-US" sz="2800" spc="-1" strike="noStrike">
                <a:solidFill>
                  <a:srgbClr val="102a43"/>
                </a:solidFill>
                <a:latin typeface="Noto Sans CJK JP"/>
              </a:rPr>
              <a:t>head-of-line waiting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62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『非選択</a:t>
            </a:r>
            <a:r>
              <a:rPr b="0" lang="en-US" sz="1250" spc="-1" strike="noStrike">
                <a:solidFill>
                  <a:srgbClr val="5d7285"/>
                </a:solidFill>
                <a:latin typeface="Noto Sans CJK JP"/>
              </a:rPr>
              <a:t>track</a:t>
            </a:r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まで速くなった』という不自然な結果を受信境界まで追跡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63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65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11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612000" y="1152000"/>
            <a:ext cx="2340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900" spc="-1" strike="noStrike">
                <a:solidFill>
                  <a:srgbClr val="e54b4b"/>
                </a:solidFill>
                <a:latin typeface="Noto Sans CJK JP"/>
              </a:rPr>
              <a:t>修正前</a:t>
            </a:r>
            <a:endParaRPr b="1" lang="en-US" sz="1900" spc="-1" strike="noStrike">
              <a:solidFill>
                <a:srgbClr val="e54b4b"/>
              </a:solidFill>
              <a:latin typeface="Noto Sans CJK JP"/>
              <a:ea typeface="Noto Sans CJK JP"/>
            </a:endParaRPr>
          </a:p>
        </p:txBody>
      </p:sp>
      <p:sp>
        <p:nvSpPr>
          <p:cNvPr id="367" name=""/>
          <p:cNvSpPr/>
          <p:nvPr/>
        </p:nvSpPr>
        <p:spPr>
          <a:xfrm>
            <a:off x="540000" y="1458000"/>
            <a:ext cx="4932000" cy="2448000"/>
          </a:xfrm>
          <a:prstGeom prst="roundRect">
            <a:avLst/>
          </a:prstGeom>
          <a:solidFill>
            <a:srgbClr val="fdece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828000" y="1710000"/>
            <a:ext cx="1440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group A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を受信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69" name=""/>
          <p:cNvSpPr/>
          <p:nvPr/>
        </p:nvSpPr>
        <p:spPr>
          <a:xfrm>
            <a:off x="2340000" y="1836000"/>
            <a:ext cx="972000" cy="0"/>
          </a:xfrm>
          <a:prstGeom prst="line">
            <a:avLst/>
          </a:prstGeom>
          <a:ln w="18000">
            <a:solidFill>
              <a:srgbClr val="e54b4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000" rIns="99000" tIns="-54000" bIns="-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"/>
          <p:cNvSpPr txBox="1"/>
          <p:nvPr/>
        </p:nvSpPr>
        <p:spPr>
          <a:xfrm>
            <a:off x="3384000" y="1710000"/>
            <a:ext cx="1548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全</a:t>
            </a:r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frame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を読み切る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71" name=""/>
          <p:cNvSpPr/>
          <p:nvPr/>
        </p:nvSpPr>
        <p:spPr>
          <a:xfrm>
            <a:off x="2736000" y="2340000"/>
            <a:ext cx="0" cy="594000"/>
          </a:xfrm>
          <a:prstGeom prst="line">
            <a:avLst/>
          </a:prstGeom>
          <a:ln w="18000">
            <a:solidFill>
              <a:srgbClr val="e54b4b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1260000" y="3042000"/>
            <a:ext cx="2952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1600" spc="-1" strike="noStrike">
                <a:solidFill>
                  <a:srgbClr val="e54b4b"/>
                </a:solidFill>
                <a:latin typeface="Noto Sans CJK JP"/>
              </a:rPr>
              <a:t>その後で次の</a:t>
            </a:r>
            <a:r>
              <a:rPr b="1" lang="en-US" sz="1600" spc="-1" strike="noStrike">
                <a:solidFill>
                  <a:srgbClr val="e54b4b"/>
                </a:solidFill>
                <a:latin typeface="Noto Sans CJK JP"/>
              </a:rPr>
              <a:t>recv_group()</a:t>
            </a:r>
            <a:endParaRPr b="1" lang="en-US" sz="1600" spc="-1" strike="noStrike">
              <a:solidFill>
                <a:srgbClr val="e54b4b"/>
              </a:solidFill>
              <a:latin typeface="Noto Sans CJK JP"/>
              <a:ea typeface="Noto Sans CJK JP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1008000" y="3348000"/>
            <a:ext cx="3456000" cy="590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後続</a:t>
            </a:r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group</a:t>
            </a:r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はすでに届いていても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pPr algn="ctr"/>
            <a:r>
              <a:rPr b="0" lang="en-US" sz="1400" spc="-1" strike="noStrike">
                <a:solidFill>
                  <a:srgbClr val="17324d"/>
                </a:solidFill>
                <a:latin typeface="Noto Sans CJK JP"/>
              </a:rPr>
              <a:t>application</a:t>
            </a:r>
            <a:r>
              <a:rPr b="0" lang="zh-CN" sz="1400" spc="-1" strike="noStrike">
                <a:solidFill>
                  <a:srgbClr val="17324d"/>
                </a:solidFill>
                <a:latin typeface="Noto Sans CJK JP"/>
              </a:rPr>
              <a:t>内で待たされる</a:t>
            </a:r>
            <a:endParaRPr b="0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74" name=""/>
          <p:cNvSpPr txBox="1"/>
          <p:nvPr/>
        </p:nvSpPr>
        <p:spPr>
          <a:xfrm>
            <a:off x="6408000" y="1152000"/>
            <a:ext cx="2340000" cy="4215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900" spc="-1" strike="noStrike">
                <a:solidFill>
                  <a:srgbClr val="27ae60"/>
                </a:solidFill>
                <a:latin typeface="Noto Sans CJK JP"/>
              </a:rPr>
              <a:t>修正後</a:t>
            </a:r>
            <a:endParaRPr b="1" lang="en-US" sz="190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75" name=""/>
          <p:cNvSpPr/>
          <p:nvPr/>
        </p:nvSpPr>
        <p:spPr>
          <a:xfrm>
            <a:off x="6264000" y="1458000"/>
            <a:ext cx="5220000" cy="2448000"/>
          </a:xfrm>
          <a:prstGeom prst="roundRect">
            <a:avLst/>
          </a:prstGeom>
          <a:solidFill>
            <a:srgbClr val="eaf8f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6912000" y="1710000"/>
            <a:ext cx="396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group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を到着順に受け続ける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77" name=""/>
          <p:cNvSpPr/>
          <p:nvPr/>
        </p:nvSpPr>
        <p:spPr>
          <a:xfrm>
            <a:off x="8874000" y="2052000"/>
            <a:ext cx="0" cy="468000"/>
          </a:xfrm>
          <a:prstGeom prst="line">
            <a:avLst/>
          </a:prstGeom>
          <a:ln w="18000">
            <a:solidFill>
              <a:srgbClr val="27ae60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9000" rIns="99000" tIns="54000" bIns="54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8" name=""/>
          <p:cNvSpPr/>
          <p:nvPr/>
        </p:nvSpPr>
        <p:spPr>
          <a:xfrm>
            <a:off x="6768000" y="2664000"/>
            <a:ext cx="1188000" cy="46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7ae6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6768000" y="2782800"/>
            <a:ext cx="118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300" spc="-1" strike="noStrike">
                <a:solidFill>
                  <a:srgbClr val="27ae60"/>
                </a:solidFill>
                <a:latin typeface="Noto Sans CJK JP"/>
              </a:rPr>
              <a:t>async task 1</a:t>
            </a:r>
            <a:endParaRPr b="1" lang="en-US" sz="130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80" name=""/>
          <p:cNvSpPr/>
          <p:nvPr/>
        </p:nvSpPr>
        <p:spPr>
          <a:xfrm>
            <a:off x="8244000" y="2664000"/>
            <a:ext cx="1188000" cy="46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7ae6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"/>
          <p:cNvSpPr txBox="1"/>
          <p:nvPr/>
        </p:nvSpPr>
        <p:spPr>
          <a:xfrm>
            <a:off x="8244000" y="2782800"/>
            <a:ext cx="118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300" spc="-1" strike="noStrike">
                <a:solidFill>
                  <a:srgbClr val="27ae60"/>
                </a:solidFill>
                <a:latin typeface="Noto Sans CJK JP"/>
              </a:rPr>
              <a:t>async task 2</a:t>
            </a:r>
            <a:endParaRPr b="1" lang="en-US" sz="130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82" name=""/>
          <p:cNvSpPr/>
          <p:nvPr/>
        </p:nvSpPr>
        <p:spPr>
          <a:xfrm>
            <a:off x="9720000" y="2664000"/>
            <a:ext cx="1188000" cy="4680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27ae60"/>
            </a:solidFill>
            <a:round/>
          </a:ln>
        </p:spPr>
        <p:txBody>
          <a:bodyPr lIns="94320" rIns="94320" tIns="49320" bIns="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9720000" y="2782800"/>
            <a:ext cx="1188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300" spc="-1" strike="noStrike">
                <a:solidFill>
                  <a:srgbClr val="27ae60"/>
                </a:solidFill>
                <a:latin typeface="Noto Sans CJK JP"/>
              </a:rPr>
              <a:t>async task 3</a:t>
            </a:r>
            <a:endParaRPr b="1" lang="en-US" sz="130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984000" y="3348000"/>
            <a:ext cx="37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各</a:t>
            </a:r>
            <a:r>
              <a:rPr b="1" lang="en-US" sz="1400" spc="-1" strike="noStrike">
                <a:solidFill>
                  <a:srgbClr val="17324d"/>
                </a:solidFill>
                <a:latin typeface="Noto Sans CJK JP"/>
              </a:rPr>
              <a:t>group</a:t>
            </a:r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の</a:t>
            </a:r>
            <a:r>
              <a:rPr b="1" lang="en-US" sz="1400" spc="-1" strike="noStrike">
                <a:solidFill>
                  <a:srgbClr val="17324d"/>
                </a:solidFill>
                <a:latin typeface="Noto Sans CJK JP"/>
              </a:rPr>
              <a:t>frame stream</a:t>
            </a:r>
            <a:r>
              <a:rPr b="1" lang="zh-CN" sz="1400" spc="-1" strike="noStrike">
                <a:solidFill>
                  <a:srgbClr val="17324d"/>
                </a:solidFill>
                <a:latin typeface="Noto Sans CJK JP"/>
              </a:rPr>
              <a:t>を並行</a:t>
            </a:r>
            <a:r>
              <a:rPr b="1" lang="en-US" sz="1400" spc="-1" strike="noStrike">
                <a:solidFill>
                  <a:srgbClr val="17324d"/>
                </a:solidFill>
                <a:latin typeface="Noto Sans CJK JP"/>
              </a:rPr>
              <a:t>read</a:t>
            </a:r>
            <a:endParaRPr b="1" lang="en-US" sz="14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85" name=""/>
          <p:cNvSpPr/>
          <p:nvPr/>
        </p:nvSpPr>
        <p:spPr>
          <a:xfrm>
            <a:off x="540000" y="4320000"/>
            <a:ext cx="10944000" cy="1296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756000" y="4464000"/>
            <a:ext cx="54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en-US" sz="1500" spc="-1" strike="noStrike">
                <a:solidFill>
                  <a:srgbClr val="102a43"/>
                </a:solidFill>
                <a:latin typeface="Noto Sans CJK JP"/>
              </a:rPr>
              <a:t>100 ms delay / cwnd 13,000 B </a:t>
            </a:r>
            <a:r>
              <a:rPr b="1" lang="zh-CN" sz="1500" spc="-1" strike="noStrike">
                <a:solidFill>
                  <a:srgbClr val="102a43"/>
                </a:solidFill>
                <a:latin typeface="Noto Sans CJK JP"/>
              </a:rPr>
              <a:t>の修正後</a:t>
            </a:r>
            <a:endParaRPr b="1" lang="en-US" sz="15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1080000" y="4788000"/>
            <a:ext cx="1800000" cy="5508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600" spc="-1" strike="noStrike">
                <a:solidFill>
                  <a:srgbClr val="27ae60"/>
                </a:solidFill>
                <a:latin typeface="Noto Sans CJK JP"/>
              </a:rPr>
              <a:t>+19%</a:t>
            </a:r>
            <a:endParaRPr b="1" lang="en-US" sz="2600" spc="-1" strike="noStrike">
              <a:solidFill>
                <a:srgbClr val="27ae60"/>
              </a:solidFill>
              <a:latin typeface="Noto Sans CJK JP"/>
              <a:ea typeface="Noto Sans CJK JP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936000" y="5148000"/>
            <a:ext cx="216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200" spc="-1" strike="noStrike">
                <a:solidFill>
                  <a:srgbClr val="17324d"/>
                </a:solidFill>
                <a:latin typeface="Noto Sans CJK JP"/>
              </a:rPr>
              <a:t>選択</a:t>
            </a:r>
            <a:r>
              <a:rPr b="0" lang="en-US" sz="1200" spc="-1" strike="noStrike">
                <a:solidFill>
                  <a:srgbClr val="17324d"/>
                </a:solidFill>
                <a:latin typeface="Noto Sans CJK JP"/>
              </a:rPr>
              <a:t>track p50</a:t>
            </a:r>
            <a:endParaRPr b="0" lang="en-US" sz="12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4356000" y="4788000"/>
            <a:ext cx="1800000" cy="55080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2600" spc="-1" strike="noStrike">
                <a:solidFill>
                  <a:srgbClr val="e54b4b"/>
                </a:solidFill>
                <a:latin typeface="Noto Sans CJK JP"/>
              </a:rPr>
              <a:t>−</a:t>
            </a:r>
            <a:r>
              <a:rPr b="1" lang="en-US" sz="2600" spc="-1" strike="noStrike">
                <a:solidFill>
                  <a:srgbClr val="e54b4b"/>
                </a:solidFill>
                <a:latin typeface="Noto Sans CJK JP"/>
              </a:rPr>
              <a:t>14%</a:t>
            </a:r>
            <a:endParaRPr b="1" lang="en-US" sz="2600" spc="-1" strike="noStrike">
              <a:solidFill>
                <a:srgbClr val="e54b4b"/>
              </a:solidFill>
              <a:latin typeface="Noto Sans CJK JP"/>
              <a:ea typeface="Noto Sans CJK JP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4212000" y="5148000"/>
            <a:ext cx="216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200" spc="-1" strike="noStrike">
                <a:solidFill>
                  <a:srgbClr val="17324d"/>
                </a:solidFill>
                <a:latin typeface="Noto Sans CJK JP"/>
              </a:rPr>
              <a:t>非選択</a:t>
            </a:r>
            <a:r>
              <a:rPr b="0" lang="en-US" sz="1200" spc="-1" strike="noStrike">
                <a:solidFill>
                  <a:srgbClr val="17324d"/>
                </a:solidFill>
                <a:latin typeface="Noto Sans CJK JP"/>
              </a:rPr>
              <a:t>track p50</a:t>
            </a:r>
            <a:endParaRPr b="0" lang="en-US" sz="12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391" name=""/>
          <p:cNvSpPr txBox="1"/>
          <p:nvPr/>
        </p:nvSpPr>
        <p:spPr>
          <a:xfrm>
            <a:off x="7956000" y="4770000"/>
            <a:ext cx="18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1300" spc="-1" strike="noStrike">
                <a:solidFill>
                  <a:srgbClr val="5d7285"/>
                </a:solidFill>
                <a:latin typeface="Noto Sans CJK JP"/>
              </a:rPr>
              <a:t>購読順の差</a:t>
            </a:r>
            <a:endParaRPr b="1" lang="en-US" sz="13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92" name=""/>
          <p:cNvSpPr txBox="1"/>
          <p:nvPr/>
        </p:nvSpPr>
        <p:spPr>
          <a:xfrm>
            <a:off x="7956000" y="5004000"/>
            <a:ext cx="1800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250" spc="-1" strike="noStrike">
                <a:solidFill>
                  <a:srgbClr val="1677ff"/>
                </a:solidFill>
                <a:latin typeface="Noto Sans CJK JP"/>
              </a:rPr>
              <a:t>0.0</a:t>
            </a:r>
            <a:r>
              <a:rPr b="1" lang="zh-CN" sz="1250" spc="-1" strike="noStrike">
                <a:solidFill>
                  <a:srgbClr val="1677ff"/>
                </a:solidFill>
                <a:latin typeface="Noto Sans CJK JP"/>
              </a:rPr>
              <a:t>から</a:t>
            </a:r>
            <a:r>
              <a:rPr b="1" lang="en-US" sz="1250" spc="-1" strike="noStrike">
                <a:solidFill>
                  <a:srgbClr val="1677ff"/>
                </a:solidFill>
                <a:latin typeface="Noto Sans CJK JP"/>
              </a:rPr>
              <a:t>0.6%</a:t>
            </a:r>
            <a:endParaRPr b="1" lang="en-US" sz="12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250" spc="-1" strike="noStrike">
                <a:solidFill>
                  <a:srgbClr val="1677ff"/>
                </a:solidFill>
                <a:latin typeface="Noto Sans CJK JP"/>
              </a:rPr>
              <a:t>全</a:t>
            </a:r>
            <a:r>
              <a:rPr b="1" lang="en-US" sz="1250" spc="-1" strike="noStrike">
                <a:solidFill>
                  <a:srgbClr val="1677ff"/>
                </a:solidFill>
                <a:latin typeface="Noto Sans CJK JP"/>
              </a:rPr>
              <a:t>CI</a:t>
            </a:r>
            <a:r>
              <a:rPr b="1" lang="zh-CN" sz="1250" spc="-1" strike="noStrike">
                <a:solidFill>
                  <a:srgbClr val="1677ff"/>
                </a:solidFill>
                <a:latin typeface="Noto Sans CJK JP"/>
              </a:rPr>
              <a:t>が</a:t>
            </a:r>
            <a:r>
              <a:rPr b="1" lang="en-US" sz="1250" spc="-1" strike="noStrike">
                <a:solidFill>
                  <a:srgbClr val="1677ff"/>
                </a:solidFill>
                <a:latin typeface="Noto Sans CJK JP"/>
              </a:rPr>
              <a:t>0</a:t>
            </a:r>
            <a:r>
              <a:rPr b="1" lang="zh-CN" sz="1250" spc="-1" strike="noStrike">
                <a:solidFill>
                  <a:srgbClr val="1677ff"/>
                </a:solidFill>
                <a:latin typeface="Noto Sans CJK JP"/>
              </a:rPr>
              <a:t>を含む</a:t>
            </a:r>
            <a:endParaRPr b="1" lang="en-US" sz="1250" spc="-1" strike="noStrike">
              <a:solidFill>
                <a:srgbClr val="1677ff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実験の進展と判断の連鎖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各結果を根拠に、次の不確実性を一つずつ潰した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97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399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12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400" name=""/>
          <p:cNvSpPr/>
          <p:nvPr/>
        </p:nvSpPr>
        <p:spPr>
          <a:xfrm>
            <a:off x="936000" y="2988000"/>
            <a:ext cx="10080000" cy="0"/>
          </a:xfrm>
          <a:prstGeom prst="line">
            <a:avLst/>
          </a:prstGeom>
          <a:ln w="2880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4400" rIns="104400" tIns="-59400" bIns="-594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"/>
          <p:cNvSpPr/>
          <p:nvPr/>
        </p:nvSpPr>
        <p:spPr>
          <a:xfrm>
            <a:off x="756000" y="2736000"/>
            <a:ext cx="504000" cy="504000"/>
          </a:xfrm>
          <a:prstGeom prst="ellipse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756000" y="2836800"/>
            <a:ext cx="5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1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03" name=""/>
          <p:cNvSpPr/>
          <p:nvPr/>
        </p:nvSpPr>
        <p:spPr>
          <a:xfrm>
            <a:off x="432000" y="1296000"/>
            <a:ext cx="1728000" cy="936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677ff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4" name=""/>
          <p:cNvSpPr txBox="1"/>
          <p:nvPr/>
        </p:nvSpPr>
        <p:spPr>
          <a:xfrm>
            <a:off x="558000" y="1422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① 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初期比較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558000" y="1746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group size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が交絡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06" name=""/>
          <p:cNvSpPr/>
          <p:nvPr/>
        </p:nvSpPr>
        <p:spPr>
          <a:xfrm>
            <a:off x="1008000" y="2232000"/>
            <a:ext cx="0" cy="504000"/>
          </a:xfrm>
          <a:prstGeom prst="line">
            <a:avLst/>
          </a:prstGeom>
          <a:ln w="12600">
            <a:solidFill>
              <a:srgbClr val="1677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7" name=""/>
          <p:cNvSpPr/>
          <p:nvPr/>
        </p:nvSpPr>
        <p:spPr>
          <a:xfrm>
            <a:off x="2664000" y="2736000"/>
            <a:ext cx="504000" cy="504000"/>
          </a:xfrm>
          <a:prstGeom prst="ellipse">
            <a:avLst/>
          </a:prstGeom>
          <a:solidFill>
            <a:srgbClr val="15b8a6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2664000" y="2836800"/>
            <a:ext cx="5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2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09" name=""/>
          <p:cNvSpPr/>
          <p:nvPr/>
        </p:nvSpPr>
        <p:spPr>
          <a:xfrm>
            <a:off x="2340000" y="3636000"/>
            <a:ext cx="1728000" cy="936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5b8a6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466000" y="3762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② 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対称化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2466000" y="4086000"/>
            <a:ext cx="1476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deep FIFO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では差なし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12" name=""/>
          <p:cNvSpPr/>
          <p:nvPr/>
        </p:nvSpPr>
        <p:spPr>
          <a:xfrm flipV="1">
            <a:off x="2916000" y="3240000"/>
            <a:ext cx="0" cy="396000"/>
          </a:xfrm>
          <a:prstGeom prst="line">
            <a:avLst/>
          </a:prstGeom>
          <a:ln w="12600">
            <a:solidFill>
              <a:srgbClr val="15b8a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"/>
          <p:cNvSpPr/>
          <p:nvPr/>
        </p:nvSpPr>
        <p:spPr>
          <a:xfrm>
            <a:off x="4572000" y="2736000"/>
            <a:ext cx="504000" cy="50400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4" name=""/>
          <p:cNvSpPr txBox="1"/>
          <p:nvPr/>
        </p:nvSpPr>
        <p:spPr>
          <a:xfrm>
            <a:off x="4572000" y="2836800"/>
            <a:ext cx="5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3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15" name=""/>
          <p:cNvSpPr/>
          <p:nvPr/>
        </p:nvSpPr>
        <p:spPr>
          <a:xfrm>
            <a:off x="4248000" y="1296000"/>
            <a:ext cx="1728000" cy="936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f59e0b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"/>
          <p:cNvSpPr txBox="1"/>
          <p:nvPr/>
        </p:nvSpPr>
        <p:spPr>
          <a:xfrm>
            <a:off x="4374000" y="1422000"/>
            <a:ext cx="1476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③ </a:t>
            </a:r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queue sweep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17" name=""/>
          <p:cNvSpPr txBox="1"/>
          <p:nvPr/>
        </p:nvSpPr>
        <p:spPr>
          <a:xfrm>
            <a:off x="4374000" y="1746000"/>
            <a:ext cx="1476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loss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増加で効果増大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18" name=""/>
          <p:cNvSpPr/>
          <p:nvPr/>
        </p:nvSpPr>
        <p:spPr>
          <a:xfrm>
            <a:off x="4824000" y="2232000"/>
            <a:ext cx="0" cy="504000"/>
          </a:xfrm>
          <a:prstGeom prst="line">
            <a:avLst/>
          </a:prstGeom>
          <a:ln w="12600">
            <a:solidFill>
              <a:srgbClr val="f59e0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"/>
          <p:cNvSpPr/>
          <p:nvPr/>
        </p:nvSpPr>
        <p:spPr>
          <a:xfrm>
            <a:off x="6480000" y="2736000"/>
            <a:ext cx="504000" cy="504000"/>
          </a:xfrm>
          <a:prstGeom prst="ellipse">
            <a:avLst/>
          </a:prstGeom>
          <a:solidFill>
            <a:srgbClr val="e54b4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"/>
          <p:cNvSpPr txBox="1"/>
          <p:nvPr/>
        </p:nvSpPr>
        <p:spPr>
          <a:xfrm>
            <a:off x="6480000" y="2836800"/>
            <a:ext cx="5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4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21" name=""/>
          <p:cNvSpPr/>
          <p:nvPr/>
        </p:nvSpPr>
        <p:spPr>
          <a:xfrm>
            <a:off x="6156000" y="3636000"/>
            <a:ext cx="1728000" cy="936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e54b4b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2" name=""/>
          <p:cNvSpPr txBox="1"/>
          <p:nvPr/>
        </p:nvSpPr>
        <p:spPr>
          <a:xfrm>
            <a:off x="6282000" y="3762000"/>
            <a:ext cx="1476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④ </a:t>
            </a:r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transport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追跡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6282000" y="4086000"/>
            <a:ext cx="1476000" cy="5324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Quinn scheduler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へ局在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24" name=""/>
          <p:cNvSpPr/>
          <p:nvPr/>
        </p:nvSpPr>
        <p:spPr>
          <a:xfrm flipV="1">
            <a:off x="6732000" y="3240000"/>
            <a:ext cx="0" cy="396000"/>
          </a:xfrm>
          <a:prstGeom prst="line">
            <a:avLst/>
          </a:prstGeom>
          <a:ln w="12600">
            <a:solidFill>
              <a:srgbClr val="e54b4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"/>
          <p:cNvSpPr/>
          <p:nvPr/>
        </p:nvSpPr>
        <p:spPr>
          <a:xfrm>
            <a:off x="8388000" y="2736000"/>
            <a:ext cx="504000" cy="504000"/>
          </a:xfrm>
          <a:prstGeom prst="ellipse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8388000" y="2836800"/>
            <a:ext cx="5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5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27" name=""/>
          <p:cNvSpPr/>
          <p:nvPr/>
        </p:nvSpPr>
        <p:spPr>
          <a:xfrm>
            <a:off x="8064000" y="1296000"/>
            <a:ext cx="1728000" cy="936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27ae60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"/>
          <p:cNvSpPr txBox="1"/>
          <p:nvPr/>
        </p:nvSpPr>
        <p:spPr>
          <a:xfrm>
            <a:off x="8190000" y="1422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⑤ </a:t>
            </a:r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fixed cwnd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8190000" y="1746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損失なしでも効果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30" name=""/>
          <p:cNvSpPr/>
          <p:nvPr/>
        </p:nvSpPr>
        <p:spPr>
          <a:xfrm>
            <a:off x="8640000" y="2232000"/>
            <a:ext cx="0" cy="504000"/>
          </a:xfrm>
          <a:prstGeom prst="line">
            <a:avLst/>
          </a:prstGeom>
          <a:ln w="12600">
            <a:solidFill>
              <a:srgbClr val="27ae6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"/>
          <p:cNvSpPr/>
          <p:nvPr/>
        </p:nvSpPr>
        <p:spPr>
          <a:xfrm>
            <a:off x="10296000" y="2736000"/>
            <a:ext cx="504000" cy="504000"/>
          </a:xfrm>
          <a:prstGeom prst="ellipse">
            <a:avLst/>
          </a:prstGeom>
          <a:solidFill>
            <a:srgbClr val="102a4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10296000" y="2836800"/>
            <a:ext cx="50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700" spc="-1" strike="noStrike">
                <a:solidFill>
                  <a:srgbClr val="ffffff"/>
                </a:solidFill>
                <a:latin typeface="Noto Sans CJK JP"/>
              </a:rPr>
              <a:t>6</a:t>
            </a:r>
            <a:endParaRPr b="1" lang="en-US" sz="17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33" name=""/>
          <p:cNvSpPr/>
          <p:nvPr/>
        </p:nvSpPr>
        <p:spPr>
          <a:xfrm>
            <a:off x="9972000" y="3636000"/>
            <a:ext cx="1728000" cy="936000"/>
          </a:xfrm>
          <a:prstGeom prst="roundRect">
            <a:avLst/>
          </a:prstGeom>
          <a:solidFill>
            <a:srgbClr val="ffffff"/>
          </a:solidFill>
          <a:ln w="10080">
            <a:solidFill>
              <a:srgbClr val="102a43"/>
            </a:solidFill>
            <a:round/>
          </a:ln>
        </p:spPr>
        <p:txBody>
          <a:bodyPr lIns="95040" rIns="95040" tIns="50040" bIns="500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10098000" y="3762000"/>
            <a:ext cx="1476000" cy="657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⑥ </a:t>
            </a:r>
            <a:r>
              <a:rPr b="1" lang="en-US" sz="1600" spc="-1" strike="noStrike">
                <a:solidFill>
                  <a:srgbClr val="102a43"/>
                </a:solidFill>
                <a:latin typeface="Noto Sans CJK JP"/>
              </a:rPr>
              <a:t>receiver</a:t>
            </a:r>
            <a:r>
              <a:rPr b="1" lang="zh-CN" sz="1600" spc="-1" strike="noStrike">
                <a:solidFill>
                  <a:srgbClr val="102a43"/>
                </a:solidFill>
                <a:latin typeface="Noto Sans CJK JP"/>
              </a:rPr>
              <a:t>修正</a:t>
            </a:r>
            <a:endParaRPr b="1" lang="en-US" sz="16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0098000" y="4086000"/>
            <a:ext cx="147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容量再配分を確認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36" name=""/>
          <p:cNvSpPr/>
          <p:nvPr/>
        </p:nvSpPr>
        <p:spPr>
          <a:xfrm flipV="1">
            <a:off x="10548000" y="3240000"/>
            <a:ext cx="0" cy="396000"/>
          </a:xfrm>
          <a:prstGeom prst="line">
            <a:avLst/>
          </a:prstGeom>
          <a:ln w="12600">
            <a:solidFill>
              <a:srgbClr val="102a4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6120" rIns="96120" tIns="51120" bIns="511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7" name=""/>
          <p:cNvSpPr/>
          <p:nvPr/>
        </p:nvSpPr>
        <p:spPr>
          <a:xfrm>
            <a:off x="540000" y="5328000"/>
            <a:ext cx="10980000" cy="540000"/>
          </a:xfrm>
          <a:prstGeom prst="roundRect">
            <a:avLst/>
          </a:prstGeom>
          <a:solidFill>
            <a:srgbClr val="fff5d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756000" y="5454000"/>
            <a:ext cx="104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進捗の核心</a:t>
            </a:r>
            <a:r>
              <a:rPr b="1" lang="en-US" sz="1500" spc="-1" strike="noStrike">
                <a:solidFill>
                  <a:srgbClr val="17324d"/>
                </a:solidFill>
                <a:latin typeface="Noto Sans CJK JP"/>
              </a:rPr>
              <a:t>: </a:t>
            </a:r>
            <a:r>
              <a:rPr b="1" lang="zh-CN" sz="1500" spc="-1" strike="noStrike">
                <a:solidFill>
                  <a:srgbClr val="17324d"/>
                </a:solidFill>
                <a:latin typeface="Noto Sans CJK JP"/>
              </a:rPr>
              <a:t>見えた差をそのまま結論にせず、交絡・測定境界・再現性を順番に検証した。</a:t>
            </a:r>
            <a:endParaRPr b="1" lang="en-US" sz="150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"/>
          <p:cNvSpPr/>
          <p:nvPr/>
        </p:nvSpPr>
        <p:spPr>
          <a:xfrm>
            <a:off x="0" y="0"/>
            <a:ext cx="12192120" cy="6858000"/>
          </a:xfrm>
          <a:prstGeom prst="rect">
            <a:avLst/>
          </a:prstGeom>
          <a:solidFill>
            <a:srgbClr val="f4f8fc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"/>
          <p:cNvSpPr/>
          <p:nvPr/>
        </p:nvSpPr>
        <p:spPr>
          <a:xfrm>
            <a:off x="0" y="0"/>
            <a:ext cx="12192120" cy="90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"/>
          <p:cNvSpPr txBox="1"/>
          <p:nvPr/>
        </p:nvSpPr>
        <p:spPr>
          <a:xfrm>
            <a:off x="540000" y="252000"/>
            <a:ext cx="10080000" cy="58608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2800" spc="-1" strike="noStrike">
                <a:solidFill>
                  <a:srgbClr val="102a43"/>
                </a:solidFill>
                <a:latin typeface="Noto Sans CJK JP"/>
              </a:rPr>
              <a:t>まとめと今後の改善</a:t>
            </a:r>
            <a:endParaRPr b="1" lang="en-US" sz="2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42" name=""/>
          <p:cNvSpPr txBox="1"/>
          <p:nvPr/>
        </p:nvSpPr>
        <p:spPr>
          <a:xfrm>
            <a:off x="547200" y="648000"/>
            <a:ext cx="1008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1250" spc="-1" strike="noStrike">
                <a:solidFill>
                  <a:srgbClr val="5d7285"/>
                </a:solidFill>
                <a:latin typeface="Noto Sans CJK JP"/>
              </a:rPr>
              <a:t>現時点の到達点と、実運用・追加検証への示唆</a:t>
            </a:r>
            <a:endParaRPr b="0" lang="en-US" sz="12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443" name=""/>
          <p:cNvSpPr/>
          <p:nvPr/>
        </p:nvSpPr>
        <p:spPr>
          <a:xfrm>
            <a:off x="540000" y="900000"/>
            <a:ext cx="11106000" cy="0"/>
          </a:xfrm>
          <a:prstGeom prst="line">
            <a:avLst/>
          </a:prstGeom>
          <a:ln w="8640">
            <a:solidFill>
              <a:srgbClr val="d5e1e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4320" rIns="94320" tIns="-49320" bIns="-4932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"/>
          <p:cNvSpPr txBox="1"/>
          <p:nvPr/>
        </p:nvSpPr>
        <p:spPr>
          <a:xfrm>
            <a:off x="540000" y="6516000"/>
            <a:ext cx="32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MoQ subscriber priority </a:t>
            </a:r>
            <a:r>
              <a:rPr b="0" lang="zh-CN" sz="900" spc="-1" strike="noStrike">
                <a:solidFill>
                  <a:srgbClr val="5d7285"/>
                </a:solidFill>
                <a:latin typeface="Noto Sans CJK JP"/>
              </a:rPr>
              <a:t>実験進捗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11268000" y="6508800"/>
            <a:ext cx="324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r"/>
            <a:r>
              <a:rPr b="0" lang="en-US" sz="900" spc="-1" strike="noStrike">
                <a:solidFill>
                  <a:srgbClr val="5d7285"/>
                </a:solidFill>
                <a:latin typeface="Noto Sans CJK JP"/>
              </a:rPr>
              <a:t>13</a:t>
            </a:r>
            <a:endParaRPr b="0" lang="en-US" sz="90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  <p:sp>
        <p:nvSpPr>
          <p:cNvPr id="446" name=""/>
          <p:cNvSpPr/>
          <p:nvPr/>
        </p:nvSpPr>
        <p:spPr>
          <a:xfrm>
            <a:off x="540000" y="1116000"/>
            <a:ext cx="3456000" cy="29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7" name=""/>
          <p:cNvSpPr/>
          <p:nvPr/>
        </p:nvSpPr>
        <p:spPr>
          <a:xfrm>
            <a:off x="540000" y="1116000"/>
            <a:ext cx="39600" cy="2952000"/>
          </a:xfrm>
          <a:prstGeom prst="rect">
            <a:avLst/>
          </a:prstGeom>
          <a:solidFill>
            <a:srgbClr val="1677ff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"/>
          <p:cNvSpPr txBox="1"/>
          <p:nvPr/>
        </p:nvSpPr>
        <p:spPr>
          <a:xfrm>
            <a:off x="702000" y="1224000"/>
            <a:ext cx="318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確定したこと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702000" y="1494000"/>
            <a:ext cx="3186000" cy="2142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明示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priority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は正しく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Quinn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へ届く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内部競合があると選択側を前進させる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loss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は必須条件ではない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購読順による有意差はない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効果は容量再配分である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50" name=""/>
          <p:cNvSpPr/>
          <p:nvPr/>
        </p:nvSpPr>
        <p:spPr>
          <a:xfrm>
            <a:off x="4356000" y="1116000"/>
            <a:ext cx="3456000" cy="29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"/>
          <p:cNvSpPr/>
          <p:nvPr/>
        </p:nvSpPr>
        <p:spPr>
          <a:xfrm>
            <a:off x="4356000" y="1116000"/>
            <a:ext cx="39600" cy="2952000"/>
          </a:xfrm>
          <a:prstGeom prst="rect">
            <a:avLst/>
          </a:prstGeom>
          <a:solidFill>
            <a:srgbClr val="27ae60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4518000" y="1224000"/>
            <a:ext cx="318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実装・運用上の改善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53" name=""/>
          <p:cNvSpPr txBox="1"/>
          <p:nvPr/>
        </p:nvSpPr>
        <p:spPr>
          <a:xfrm>
            <a:off x="4518000" y="1494000"/>
            <a:ext cx="3186000" cy="237276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group frame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は並行して読む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深い下流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FIFO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を避ける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priority-aware scheduler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手前で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backpressure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を作る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group size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と生成位相を揃えて評価する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p50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だけでなく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p95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も確認する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54" name=""/>
          <p:cNvSpPr/>
          <p:nvPr/>
        </p:nvSpPr>
        <p:spPr>
          <a:xfrm>
            <a:off x="8172000" y="1116000"/>
            <a:ext cx="3456000" cy="2952000"/>
          </a:xfrm>
          <a:prstGeom prst="roundRect">
            <a:avLst/>
          </a:prstGeom>
          <a:solidFill>
            <a:srgbClr val="ffffff"/>
          </a:solidFill>
          <a:ln w="6480">
            <a:solidFill>
              <a:srgbClr val="d5e1ec"/>
            </a:solidFill>
            <a:round/>
          </a:ln>
        </p:spPr>
        <p:txBody>
          <a:bodyPr lIns="93240" rIns="93240" tIns="48240" bIns="4824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5" name=""/>
          <p:cNvSpPr/>
          <p:nvPr/>
        </p:nvSpPr>
        <p:spPr>
          <a:xfrm>
            <a:off x="8172000" y="1116000"/>
            <a:ext cx="39600" cy="295200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8334000" y="1224000"/>
            <a:ext cx="3186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800" spc="-1" strike="noStrike">
                <a:solidFill>
                  <a:srgbClr val="102a43"/>
                </a:solidFill>
                <a:latin typeface="Noto Sans CJK JP"/>
              </a:rPr>
              <a:t>次に行うなら</a:t>
            </a:r>
            <a:endParaRPr b="1" lang="en-US" sz="1800" spc="-1" strike="noStrike">
              <a:solidFill>
                <a:srgbClr val="102a43"/>
              </a:solidFill>
              <a:latin typeface="Noto Sans CJK JP"/>
              <a:ea typeface="Noto Sans CJK JP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8334000" y="1494000"/>
            <a:ext cx="3186000" cy="21427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実ネットワークと複数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RTT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で再現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video/audio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の現実的な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burst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で評価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BBR/CUBIC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等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controller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差を比較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qlog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へ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stream attribution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を追加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  <a:p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● </a:t>
            </a:r>
            <a:r>
              <a:rPr b="0" lang="en-US" sz="1250" spc="-1" strike="noStrike">
                <a:solidFill>
                  <a:srgbClr val="17324d"/>
                </a:solidFill>
                <a:latin typeface="Noto Sans CJK JP"/>
              </a:rPr>
              <a:t>QoE</a:t>
            </a:r>
            <a:r>
              <a:rPr b="0" lang="zh-CN" sz="1250" spc="-1" strike="noStrike">
                <a:solidFill>
                  <a:srgbClr val="17324d"/>
                </a:solidFill>
                <a:latin typeface="Noto Sans CJK JP"/>
              </a:rPr>
              <a:t>指標と帯域公平性を同時評価</a:t>
            </a:r>
            <a:endParaRPr b="0" lang="en-US" sz="1250" spc="-1" strike="noStrike">
              <a:solidFill>
                <a:srgbClr val="17324d"/>
              </a:solidFill>
              <a:latin typeface="Noto Sans CJK JP"/>
              <a:ea typeface="Noto Sans CJK JP"/>
            </a:endParaRPr>
          </a:p>
        </p:txBody>
      </p:sp>
      <p:sp>
        <p:nvSpPr>
          <p:cNvPr id="458" name=""/>
          <p:cNvSpPr/>
          <p:nvPr/>
        </p:nvSpPr>
        <p:spPr>
          <a:xfrm>
            <a:off x="540000" y="4464000"/>
            <a:ext cx="11088000" cy="1260000"/>
          </a:xfrm>
          <a:prstGeom prst="roundRect">
            <a:avLst/>
          </a:prstGeom>
          <a:solidFill>
            <a:srgbClr val="102a43"/>
          </a:solidFill>
          <a:ln w="0">
            <a:noFill/>
          </a:ln>
        </p:spPr>
        <p:txBody>
          <a:bodyPr lIns="90000" rIns="90000" tIns="45000" bIns="45000" anchor="ctr" anchorCtr="1">
            <a:noAutofit/>
          </a:bodyPr>
          <a:p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756000" y="4644000"/>
            <a:ext cx="180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1" lang="zh-CN" sz="1400" spc="-1" strike="noStrike">
                <a:solidFill>
                  <a:srgbClr val="15b8a6"/>
                </a:solidFill>
                <a:latin typeface="Noto Sans CJK JP"/>
              </a:rPr>
              <a:t>最終メッセージ</a:t>
            </a:r>
            <a:endParaRPr b="1" lang="en-US" sz="1400" spc="-1" strike="noStrike">
              <a:solidFill>
                <a:srgbClr val="15b8a6"/>
              </a:solidFill>
              <a:latin typeface="Noto Sans CJK JP"/>
              <a:ea typeface="Noto Sans CJK JP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756000" y="4860000"/>
            <a:ext cx="10440000" cy="73404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pPr algn="ctr"/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Priority</a:t>
            </a:r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は『速くする魔法』ではなく、制約された送信容量を</a:t>
            </a:r>
            <a:endParaRPr b="1" lang="en-US" sz="1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  <a:p>
            <a:pPr algn="ctr"/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どの</a:t>
            </a:r>
            <a:r>
              <a:rPr b="1" lang="en-US" sz="1800" spc="-1" strike="noStrike">
                <a:solidFill>
                  <a:srgbClr val="ffffff"/>
                </a:solidFill>
                <a:latin typeface="Noto Sans CJK JP"/>
              </a:rPr>
              <a:t>stream</a:t>
            </a:r>
            <a:r>
              <a:rPr b="1" lang="zh-CN" sz="1800" spc="-1" strike="noStrike">
                <a:solidFill>
                  <a:srgbClr val="ffffff"/>
                </a:solidFill>
                <a:latin typeface="Noto Sans CJK JP"/>
              </a:rPr>
              <a:t>へ先に配るかを決める仕組みである。</a:t>
            </a:r>
            <a:endParaRPr b="1" lang="en-US" sz="1800" spc="-1" strike="noStrike">
              <a:solidFill>
                <a:srgbClr val="ffffff"/>
              </a:solidFill>
              <a:latin typeface="Noto Sans CJK JP"/>
              <a:ea typeface="Noto Sans CJK JP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648000" y="5976000"/>
            <a:ext cx="6840000" cy="409320"/>
          </a:xfrm>
          <a:prstGeom prst="rect">
            <a:avLst/>
          </a:prstGeom>
          <a:noFill/>
          <a:ln w="0">
            <a:noFill/>
          </a:ln>
        </p:spPr>
        <p:txBody>
          <a:bodyPr lIns="36000" rIns="36000" tIns="36000" bIns="36000" anchor="ctr">
            <a:noAutofit/>
          </a:bodyPr>
          <a:p>
            <a:r>
              <a:rPr b="0" lang="zh-CN" sz="950" spc="-1" strike="noStrike">
                <a:solidFill>
                  <a:srgbClr val="5d7285"/>
                </a:solidFill>
                <a:latin typeface="Noto Sans CJK JP"/>
              </a:rPr>
              <a:t>出典</a:t>
            </a:r>
            <a:r>
              <a:rPr b="0" lang="en-US" sz="950" spc="-1" strike="noStrike">
                <a:solidFill>
                  <a:srgbClr val="5d7285"/>
                </a:solidFill>
                <a:latin typeface="Noto Sans CJK JP"/>
              </a:rPr>
              <a:t>: py/moq-rs/examples/local_experiment/RESULTS.md</a:t>
            </a:r>
            <a:endParaRPr b="0" lang="en-US" sz="950" spc="-1" strike="noStrike">
              <a:solidFill>
                <a:srgbClr val="5d7285"/>
              </a:solidFill>
              <a:latin typeface="Noto Sans CJK JP"/>
              <a:ea typeface="Noto Sans CJK JP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2026-09-30T07:31:00Z</dcterms:created>
  <dc:creator/>
  <dc:description/>
  <dc:language>en-US</dc:language>
  <cp:lastModifiedBy/>
  <dcterms:modified xsi:type="dcterms:W3CDTF">2026-09-30T07:31:04Z</dcterms:modified>
  <cp:revision>1</cp:revision>
  <dc:subject/>
  <dc:title/>
</cp:coreProperties>
</file>